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Poppins Bold" charset="1" panose="00000800000000000000"/>
      <p:regular r:id="rId11"/>
    </p:embeddedFont>
    <p:embeddedFont>
      <p:font typeface="Poppins" charset="1" panose="0000050000000000000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8819E"/>
        </a:solidFill>
      </p:bgPr>
    </p:bg>
    <p:spTree>
      <p:nvGrpSpPr>
        <p:cNvPr id="1" name=""/>
        <p:cNvGrpSpPr/>
        <p:nvPr/>
      </p:nvGrpSpPr>
      <p:grpSpPr>
        <a:xfrm>
          <a:off x="0" y="0"/>
          <a:ext cx="0" cy="0"/>
          <a:chOff x="0" y="0"/>
          <a:chExt cx="0" cy="0"/>
        </a:xfrm>
      </p:grpSpPr>
      <p:sp>
        <p:nvSpPr>
          <p:cNvPr name="Freeform 2" id="2"/>
          <p:cNvSpPr/>
          <p:nvPr/>
        </p:nvSpPr>
        <p:spPr>
          <a:xfrm flipH="false" flipV="false" rot="0">
            <a:off x="2283559" y="1941953"/>
            <a:ext cx="13720882" cy="6785600"/>
          </a:xfrm>
          <a:custGeom>
            <a:avLst/>
            <a:gdLst/>
            <a:ahLst/>
            <a:cxnLst/>
            <a:rect r="r" b="b" t="t" l="l"/>
            <a:pathLst>
              <a:path h="6785600" w="13720882">
                <a:moveTo>
                  <a:pt x="0" y="0"/>
                </a:moveTo>
                <a:lnTo>
                  <a:pt x="13720882" y="0"/>
                </a:lnTo>
                <a:lnTo>
                  <a:pt x="13720882" y="6785600"/>
                </a:lnTo>
                <a:lnTo>
                  <a:pt x="0" y="6785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7168106"/>
            <a:ext cx="2937431" cy="3118894"/>
          </a:xfrm>
          <a:custGeom>
            <a:avLst/>
            <a:gdLst/>
            <a:ahLst/>
            <a:cxnLst/>
            <a:rect r="r" b="b" t="t" l="l"/>
            <a:pathLst>
              <a:path h="3118894" w="2937431">
                <a:moveTo>
                  <a:pt x="2937431" y="0"/>
                </a:moveTo>
                <a:lnTo>
                  <a:pt x="0" y="0"/>
                </a:lnTo>
                <a:lnTo>
                  <a:pt x="0" y="3118894"/>
                </a:lnTo>
                <a:lnTo>
                  <a:pt x="2937431" y="3118894"/>
                </a:lnTo>
                <a:lnTo>
                  <a:pt x="293743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594811" y="2323828"/>
            <a:ext cx="2368391" cy="2819672"/>
          </a:xfrm>
          <a:custGeom>
            <a:avLst/>
            <a:gdLst/>
            <a:ahLst/>
            <a:cxnLst/>
            <a:rect r="r" b="b" t="t" l="l"/>
            <a:pathLst>
              <a:path h="2819672" w="2368391">
                <a:moveTo>
                  <a:pt x="0" y="0"/>
                </a:moveTo>
                <a:lnTo>
                  <a:pt x="2368392" y="0"/>
                </a:lnTo>
                <a:lnTo>
                  <a:pt x="2368392" y="2819672"/>
                </a:lnTo>
                <a:lnTo>
                  <a:pt x="0" y="28196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324797" y="2502300"/>
            <a:ext cx="1057099" cy="647564"/>
          </a:xfrm>
          <a:custGeom>
            <a:avLst/>
            <a:gdLst/>
            <a:ahLst/>
            <a:cxnLst/>
            <a:rect r="r" b="b" t="t" l="l"/>
            <a:pathLst>
              <a:path h="647564" w="1057099">
                <a:moveTo>
                  <a:pt x="0" y="0"/>
                </a:moveTo>
                <a:lnTo>
                  <a:pt x="1057099" y="0"/>
                </a:lnTo>
                <a:lnTo>
                  <a:pt x="1057099" y="647564"/>
                </a:lnTo>
                <a:lnTo>
                  <a:pt x="0" y="6475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145108">
            <a:off x="15770841" y="626969"/>
            <a:ext cx="2224918" cy="1875331"/>
          </a:xfrm>
          <a:custGeom>
            <a:avLst/>
            <a:gdLst/>
            <a:ahLst/>
            <a:cxnLst/>
            <a:rect r="r" b="b" t="t" l="l"/>
            <a:pathLst>
              <a:path h="1875331" w="2224918">
                <a:moveTo>
                  <a:pt x="0" y="0"/>
                </a:moveTo>
                <a:lnTo>
                  <a:pt x="2224918" y="0"/>
                </a:lnTo>
                <a:lnTo>
                  <a:pt x="2224918" y="1875331"/>
                </a:lnTo>
                <a:lnTo>
                  <a:pt x="0" y="187533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3516530" y="7168106"/>
            <a:ext cx="4724672" cy="2866540"/>
          </a:xfrm>
          <a:custGeom>
            <a:avLst/>
            <a:gdLst/>
            <a:ahLst/>
            <a:cxnLst/>
            <a:rect r="r" b="b" t="t" l="l"/>
            <a:pathLst>
              <a:path h="2866540" w="4724672">
                <a:moveTo>
                  <a:pt x="0" y="0"/>
                </a:moveTo>
                <a:lnTo>
                  <a:pt x="4724672" y="0"/>
                </a:lnTo>
                <a:lnTo>
                  <a:pt x="4724672" y="2866540"/>
                </a:lnTo>
                <a:lnTo>
                  <a:pt x="0" y="286654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8" id="8"/>
          <p:cNvGrpSpPr/>
          <p:nvPr/>
        </p:nvGrpSpPr>
        <p:grpSpPr>
          <a:xfrm rot="0">
            <a:off x="5434653" y="2689625"/>
            <a:ext cx="7418693" cy="3211743"/>
            <a:chOff x="0" y="0"/>
            <a:chExt cx="9891591" cy="4282324"/>
          </a:xfrm>
        </p:grpSpPr>
        <p:sp>
          <p:nvSpPr>
            <p:cNvPr name="TextBox 9" id="9"/>
            <p:cNvSpPr txBox="true"/>
            <p:nvPr/>
          </p:nvSpPr>
          <p:spPr>
            <a:xfrm rot="0">
              <a:off x="603917" y="-352425"/>
              <a:ext cx="8683757" cy="2790825"/>
            </a:xfrm>
            <a:prstGeom prst="rect">
              <a:avLst/>
            </a:prstGeom>
          </p:spPr>
          <p:txBody>
            <a:bodyPr anchor="t" rtlCol="false" tIns="0" lIns="0" bIns="0" rIns="0">
              <a:spAutoFit/>
            </a:bodyPr>
            <a:lstStyle/>
            <a:p>
              <a:pPr algn="ctr">
                <a:lnSpc>
                  <a:spcPts val="16800"/>
                </a:lnSpc>
                <a:spcBef>
                  <a:spcPct val="0"/>
                </a:spcBef>
              </a:pPr>
              <a:r>
                <a:rPr lang="en-US" b="true" sz="12000">
                  <a:solidFill>
                    <a:srgbClr val="E3DEDF"/>
                  </a:solidFill>
                  <a:latin typeface="Poppins Bold"/>
                  <a:ea typeface="Poppins Bold"/>
                  <a:cs typeface="Poppins Bold"/>
                  <a:sym typeface="Poppins Bold"/>
                </a:rPr>
                <a:t>Travel</a:t>
              </a:r>
            </a:p>
          </p:txBody>
        </p:sp>
        <p:sp>
          <p:nvSpPr>
            <p:cNvPr name="TextBox 10" id="10"/>
            <p:cNvSpPr txBox="true"/>
            <p:nvPr/>
          </p:nvSpPr>
          <p:spPr>
            <a:xfrm rot="0">
              <a:off x="0" y="1491499"/>
              <a:ext cx="9891591" cy="2790825"/>
            </a:xfrm>
            <a:prstGeom prst="rect">
              <a:avLst/>
            </a:prstGeom>
          </p:spPr>
          <p:txBody>
            <a:bodyPr anchor="t" rtlCol="false" tIns="0" lIns="0" bIns="0" rIns="0">
              <a:spAutoFit/>
            </a:bodyPr>
            <a:lstStyle/>
            <a:p>
              <a:pPr algn="ctr">
                <a:lnSpc>
                  <a:spcPts val="16800"/>
                </a:lnSpc>
                <a:spcBef>
                  <a:spcPct val="0"/>
                </a:spcBef>
              </a:pPr>
              <a:r>
                <a:rPr lang="en-US" b="true" sz="12000">
                  <a:solidFill>
                    <a:srgbClr val="E3DEDF"/>
                  </a:solidFill>
                  <a:latin typeface="Poppins Bold"/>
                  <a:ea typeface="Poppins Bold"/>
                  <a:cs typeface="Poppins Bold"/>
                  <a:sym typeface="Poppins Bold"/>
                </a:rPr>
                <a:t>Sphere</a:t>
              </a:r>
            </a:p>
          </p:txBody>
        </p:sp>
      </p:grpSp>
      <p:sp>
        <p:nvSpPr>
          <p:cNvPr name="TextBox 11" id="11"/>
          <p:cNvSpPr txBox="true"/>
          <p:nvPr/>
        </p:nvSpPr>
        <p:spPr>
          <a:xfrm rot="0">
            <a:off x="4856620" y="6238192"/>
            <a:ext cx="8848085" cy="516890"/>
          </a:xfrm>
          <a:prstGeom prst="rect">
            <a:avLst/>
          </a:prstGeom>
        </p:spPr>
        <p:txBody>
          <a:bodyPr anchor="t" rtlCol="false" tIns="0" lIns="0" bIns="0" rIns="0">
            <a:spAutoFit/>
          </a:bodyPr>
          <a:lstStyle/>
          <a:p>
            <a:pPr algn="ctr">
              <a:lnSpc>
                <a:spcPts val="4059"/>
              </a:lnSpc>
              <a:spcBef>
                <a:spcPct val="0"/>
              </a:spcBef>
            </a:pPr>
            <a:r>
              <a:rPr lang="en-US" b="true" sz="2899">
                <a:solidFill>
                  <a:srgbClr val="E3DEDF"/>
                </a:solidFill>
                <a:latin typeface="Poppins Bold"/>
                <a:ea typeface="Poppins Bold"/>
                <a:cs typeface="Poppins Bold"/>
                <a:sym typeface="Poppins Bold"/>
              </a:rPr>
              <a:t>A Community Driven Travel &amp; Safety Platform</a:t>
            </a:r>
          </a:p>
        </p:txBody>
      </p:sp>
      <p:sp>
        <p:nvSpPr>
          <p:cNvPr name="TextBox 12" id="12"/>
          <p:cNvSpPr txBox="true"/>
          <p:nvPr/>
        </p:nvSpPr>
        <p:spPr>
          <a:xfrm rot="0">
            <a:off x="6395909" y="2248300"/>
            <a:ext cx="5496182" cy="441325"/>
          </a:xfrm>
          <a:prstGeom prst="rect">
            <a:avLst/>
          </a:prstGeom>
        </p:spPr>
        <p:txBody>
          <a:bodyPr anchor="t" rtlCol="false" tIns="0" lIns="0" bIns="0" rIns="0">
            <a:spAutoFit/>
          </a:bodyPr>
          <a:lstStyle/>
          <a:p>
            <a:pPr algn="ctr">
              <a:lnSpc>
                <a:spcPts val="3499"/>
              </a:lnSpc>
              <a:spcBef>
                <a:spcPct val="0"/>
              </a:spcBef>
            </a:pPr>
            <a:r>
              <a:rPr lang="en-US" sz="2499">
                <a:solidFill>
                  <a:srgbClr val="E3DEDF"/>
                </a:solidFill>
                <a:latin typeface="Poppins"/>
                <a:ea typeface="Poppins"/>
                <a:cs typeface="Poppins"/>
                <a:sym typeface="Poppins"/>
              </a:rPr>
              <a:t>Plan • P</a:t>
            </a:r>
            <a:r>
              <a:rPr lang="en-US" sz="2499">
                <a:solidFill>
                  <a:srgbClr val="E3DEDF"/>
                </a:solidFill>
                <a:latin typeface="Poppins"/>
                <a:ea typeface="Poppins"/>
                <a:cs typeface="Poppins"/>
                <a:sym typeface="Poppins"/>
              </a:rPr>
              <a:t>rotect • Save • Discover</a:t>
            </a:r>
          </a:p>
        </p:txBody>
      </p:sp>
      <p:grpSp>
        <p:nvGrpSpPr>
          <p:cNvPr name="Group 13" id="13"/>
          <p:cNvGrpSpPr/>
          <p:nvPr/>
        </p:nvGrpSpPr>
        <p:grpSpPr>
          <a:xfrm rot="0">
            <a:off x="6350254" y="7569200"/>
            <a:ext cx="5587493" cy="1689100"/>
            <a:chOff x="0" y="0"/>
            <a:chExt cx="7449990" cy="2252133"/>
          </a:xfrm>
        </p:grpSpPr>
        <p:sp>
          <p:nvSpPr>
            <p:cNvPr name="TextBox 14" id="14"/>
            <p:cNvSpPr txBox="true"/>
            <p:nvPr/>
          </p:nvSpPr>
          <p:spPr>
            <a:xfrm rot="0">
              <a:off x="0" y="-66675"/>
              <a:ext cx="4423279" cy="2318808"/>
            </a:xfrm>
            <a:prstGeom prst="rect">
              <a:avLst/>
            </a:prstGeom>
          </p:spPr>
          <p:txBody>
            <a:bodyPr anchor="t" rtlCol="false" tIns="0" lIns="0" bIns="0" rIns="0">
              <a:spAutoFit/>
            </a:bodyPr>
            <a:lstStyle/>
            <a:p>
              <a:pPr algn="r">
                <a:lnSpc>
                  <a:spcPts val="3499"/>
                </a:lnSpc>
              </a:pPr>
            </a:p>
            <a:p>
              <a:pPr algn="r">
                <a:lnSpc>
                  <a:spcPts val="3499"/>
                </a:lnSpc>
              </a:pPr>
              <a:r>
                <a:rPr lang="en-US" sz="2499">
                  <a:solidFill>
                    <a:srgbClr val="F8F8F8"/>
                  </a:solidFill>
                  <a:latin typeface="Poppins"/>
                  <a:ea typeface="Poppins"/>
                  <a:cs typeface="Poppins"/>
                  <a:sym typeface="Poppins"/>
                </a:rPr>
                <a:t>Niharika Chawla</a:t>
              </a:r>
            </a:p>
            <a:p>
              <a:pPr algn="r">
                <a:lnSpc>
                  <a:spcPts val="3499"/>
                </a:lnSpc>
              </a:pPr>
              <a:r>
                <a:rPr lang="en-US" sz="2499">
                  <a:solidFill>
                    <a:srgbClr val="F8F8F8"/>
                  </a:solidFill>
                  <a:latin typeface="Poppins"/>
                  <a:ea typeface="Poppins"/>
                  <a:cs typeface="Poppins"/>
                  <a:sym typeface="Poppins"/>
                </a:rPr>
                <a:t>Ayush Gupta</a:t>
              </a:r>
            </a:p>
            <a:p>
              <a:pPr algn="r">
                <a:lnSpc>
                  <a:spcPts val="3499"/>
                </a:lnSpc>
                <a:spcBef>
                  <a:spcPct val="0"/>
                </a:spcBef>
              </a:pPr>
              <a:r>
                <a:rPr lang="en-US" sz="2499">
                  <a:solidFill>
                    <a:srgbClr val="F8F8F8"/>
                  </a:solidFill>
                  <a:latin typeface="Poppins"/>
                  <a:ea typeface="Poppins"/>
                  <a:cs typeface="Poppins"/>
                  <a:sym typeface="Poppins"/>
                </a:rPr>
                <a:t>Sarwar Singh Dhillon </a:t>
              </a:r>
            </a:p>
          </p:txBody>
        </p:sp>
        <p:sp>
          <p:nvSpPr>
            <p:cNvPr name="TextBox 15" id="15"/>
            <p:cNvSpPr txBox="true"/>
            <p:nvPr/>
          </p:nvSpPr>
          <p:spPr>
            <a:xfrm rot="0">
              <a:off x="4605496" y="-66675"/>
              <a:ext cx="2844495" cy="2318808"/>
            </a:xfrm>
            <a:prstGeom prst="rect">
              <a:avLst/>
            </a:prstGeom>
          </p:spPr>
          <p:txBody>
            <a:bodyPr anchor="t" rtlCol="false" tIns="0" lIns="0" bIns="0" rIns="0">
              <a:spAutoFit/>
            </a:bodyPr>
            <a:lstStyle/>
            <a:p>
              <a:pPr algn="just">
                <a:lnSpc>
                  <a:spcPts val="3499"/>
                </a:lnSpc>
              </a:pPr>
            </a:p>
            <a:p>
              <a:pPr algn="just">
                <a:lnSpc>
                  <a:spcPts val="3499"/>
                </a:lnSpc>
              </a:pPr>
              <a:r>
                <a:rPr lang="en-US" sz="2499">
                  <a:solidFill>
                    <a:srgbClr val="F8F8F8"/>
                  </a:solidFill>
                  <a:latin typeface="Poppins"/>
                  <a:ea typeface="Poppins"/>
                  <a:cs typeface="Poppins"/>
                  <a:sym typeface="Poppins"/>
                </a:rPr>
                <a:t>1024030762</a:t>
              </a:r>
            </a:p>
            <a:p>
              <a:pPr algn="just">
                <a:lnSpc>
                  <a:spcPts val="3499"/>
                </a:lnSpc>
              </a:pPr>
              <a:r>
                <a:rPr lang="en-US" sz="2499">
                  <a:solidFill>
                    <a:srgbClr val="F8F8F8"/>
                  </a:solidFill>
                  <a:latin typeface="Poppins"/>
                  <a:ea typeface="Poppins"/>
                  <a:cs typeface="Poppins"/>
                  <a:sym typeface="Poppins"/>
                </a:rPr>
                <a:t>1024030781</a:t>
              </a:r>
            </a:p>
            <a:p>
              <a:pPr algn="just">
                <a:lnSpc>
                  <a:spcPts val="3499"/>
                </a:lnSpc>
                <a:spcBef>
                  <a:spcPct val="0"/>
                </a:spcBef>
              </a:pPr>
              <a:r>
                <a:rPr lang="en-US" sz="2499">
                  <a:solidFill>
                    <a:srgbClr val="F8F8F8"/>
                  </a:solidFill>
                  <a:latin typeface="Poppins"/>
                  <a:ea typeface="Poppins"/>
                  <a:cs typeface="Poppins"/>
                  <a:sym typeface="Poppins"/>
                </a:rPr>
                <a:t>1024030862</a:t>
              </a:r>
              <a:r>
                <a:rPr lang="en-US" sz="2499">
                  <a:solidFill>
                    <a:srgbClr val="F8F8F8"/>
                  </a:solidFill>
                  <a:latin typeface="Poppins"/>
                  <a:ea typeface="Poppins"/>
                  <a:cs typeface="Poppins"/>
                  <a:sym typeface="Poppins"/>
                </a:rPr>
                <a:t> </a:t>
              </a:r>
            </a:p>
          </p:txBody>
        </p:sp>
        <p:sp>
          <p:nvSpPr>
            <p:cNvPr name="TextBox 16" id="16"/>
            <p:cNvSpPr txBox="true"/>
            <p:nvPr/>
          </p:nvSpPr>
          <p:spPr>
            <a:xfrm rot="0">
              <a:off x="3001032" y="-66675"/>
              <a:ext cx="2844495" cy="566208"/>
            </a:xfrm>
            <a:prstGeom prst="rect">
              <a:avLst/>
            </a:prstGeom>
          </p:spPr>
          <p:txBody>
            <a:bodyPr anchor="t" rtlCol="false" tIns="0" lIns="0" bIns="0" rIns="0">
              <a:spAutoFit/>
            </a:bodyPr>
            <a:lstStyle/>
            <a:p>
              <a:pPr algn="r">
                <a:lnSpc>
                  <a:spcPts val="3499"/>
                </a:lnSpc>
                <a:spcBef>
                  <a:spcPct val="0"/>
                </a:spcBef>
              </a:pPr>
              <a:r>
                <a:rPr lang="en-US" sz="2499">
                  <a:solidFill>
                    <a:srgbClr val="F8F8F8"/>
                  </a:solidFill>
                  <a:latin typeface="Poppins"/>
                  <a:ea typeface="Poppins"/>
                  <a:cs typeface="Poppins"/>
                  <a:sym typeface="Poppins"/>
                </a:rPr>
                <a:t>Presented By</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9742599" y="3442840"/>
            <a:ext cx="3036312" cy="4630343"/>
            <a:chOff x="0" y="0"/>
            <a:chExt cx="799687" cy="1219514"/>
          </a:xfrm>
        </p:grpSpPr>
        <p:sp>
          <p:nvSpPr>
            <p:cNvPr name="Freeform 3" id="3"/>
            <p:cNvSpPr/>
            <p:nvPr/>
          </p:nvSpPr>
          <p:spPr>
            <a:xfrm flipH="false" flipV="false" rot="0">
              <a:off x="0" y="0"/>
              <a:ext cx="799687" cy="1219514"/>
            </a:xfrm>
            <a:custGeom>
              <a:avLst/>
              <a:gdLst/>
              <a:ahLst/>
              <a:cxnLst/>
              <a:rect r="r" b="b" t="t" l="l"/>
              <a:pathLst>
                <a:path h="1219514" w="799687">
                  <a:moveTo>
                    <a:pt x="0" y="0"/>
                  </a:moveTo>
                  <a:lnTo>
                    <a:pt x="799687" y="0"/>
                  </a:lnTo>
                  <a:lnTo>
                    <a:pt x="799687" y="1219514"/>
                  </a:lnTo>
                  <a:lnTo>
                    <a:pt x="0" y="1219514"/>
                  </a:lnTo>
                  <a:close/>
                </a:path>
              </a:pathLst>
            </a:custGeom>
            <a:solidFill>
              <a:srgbClr val="1F3952"/>
            </a:solidFill>
          </p:spPr>
        </p:sp>
        <p:sp>
          <p:nvSpPr>
            <p:cNvPr name="TextBox 4" id="4"/>
            <p:cNvSpPr txBox="true"/>
            <p:nvPr/>
          </p:nvSpPr>
          <p:spPr>
            <a:xfrm>
              <a:off x="0" y="-66675"/>
              <a:ext cx="799687" cy="1286189"/>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0">
            <a:off x="11891468" y="-248280"/>
            <a:ext cx="6593621" cy="10783559"/>
            <a:chOff x="0" y="0"/>
            <a:chExt cx="1736591" cy="2840114"/>
          </a:xfrm>
        </p:grpSpPr>
        <p:sp>
          <p:nvSpPr>
            <p:cNvPr name="Freeform 6" id="6"/>
            <p:cNvSpPr/>
            <p:nvPr/>
          </p:nvSpPr>
          <p:spPr>
            <a:xfrm flipH="false" flipV="false" rot="0">
              <a:off x="0" y="0"/>
              <a:ext cx="1736591" cy="2840114"/>
            </a:xfrm>
            <a:custGeom>
              <a:avLst/>
              <a:gdLst/>
              <a:ahLst/>
              <a:cxnLst/>
              <a:rect r="r" b="b" t="t" l="l"/>
              <a:pathLst>
                <a:path h="2840114" w="1736591">
                  <a:moveTo>
                    <a:pt x="0" y="0"/>
                  </a:moveTo>
                  <a:lnTo>
                    <a:pt x="1736591" y="0"/>
                  </a:lnTo>
                  <a:lnTo>
                    <a:pt x="1736591" y="2840114"/>
                  </a:lnTo>
                  <a:lnTo>
                    <a:pt x="0" y="2840114"/>
                  </a:lnTo>
                  <a:close/>
                </a:path>
              </a:pathLst>
            </a:custGeom>
            <a:solidFill>
              <a:srgbClr val="28819E"/>
            </a:solidFill>
          </p:spPr>
        </p:sp>
        <p:sp>
          <p:nvSpPr>
            <p:cNvPr name="TextBox 7" id="7"/>
            <p:cNvSpPr txBox="true"/>
            <p:nvPr/>
          </p:nvSpPr>
          <p:spPr>
            <a:xfrm>
              <a:off x="0" y="-66675"/>
              <a:ext cx="1736591" cy="2906789"/>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0155726" y="2520315"/>
            <a:ext cx="5246370" cy="524637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
              <a:stretch>
                <a:fillRect l="-28125" t="0" r="-28125" b="0"/>
              </a:stretch>
            </a:blipFill>
            <a:ln w="85725" cap="sq">
              <a:solidFill>
                <a:srgbClr val="F8F8F8"/>
              </a:solidFill>
              <a:prstDash val="solid"/>
              <a:miter/>
            </a:ln>
          </p:spPr>
        </p:sp>
      </p:grpSp>
      <p:sp>
        <p:nvSpPr>
          <p:cNvPr name="Freeform 10" id="10"/>
          <p:cNvSpPr/>
          <p:nvPr/>
        </p:nvSpPr>
        <p:spPr>
          <a:xfrm flipH="false" flipV="false" rot="0">
            <a:off x="15547657" y="7168106"/>
            <a:ext cx="2937431" cy="3118894"/>
          </a:xfrm>
          <a:custGeom>
            <a:avLst/>
            <a:gdLst/>
            <a:ahLst/>
            <a:cxnLst/>
            <a:rect r="r" b="b" t="t" l="l"/>
            <a:pathLst>
              <a:path h="3118894" w="2937431">
                <a:moveTo>
                  <a:pt x="0" y="0"/>
                </a:moveTo>
                <a:lnTo>
                  <a:pt x="2937431" y="0"/>
                </a:lnTo>
                <a:lnTo>
                  <a:pt x="2937431" y="3118894"/>
                </a:lnTo>
                <a:lnTo>
                  <a:pt x="0" y="31188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5575803" y="645843"/>
            <a:ext cx="2368391" cy="2819672"/>
          </a:xfrm>
          <a:custGeom>
            <a:avLst/>
            <a:gdLst/>
            <a:ahLst/>
            <a:cxnLst/>
            <a:rect r="r" b="b" t="t" l="l"/>
            <a:pathLst>
              <a:path h="2819672" w="2368391">
                <a:moveTo>
                  <a:pt x="0" y="0"/>
                </a:moveTo>
                <a:lnTo>
                  <a:pt x="2368392" y="0"/>
                </a:lnTo>
                <a:lnTo>
                  <a:pt x="2368392" y="2819672"/>
                </a:lnTo>
                <a:lnTo>
                  <a:pt x="0" y="28196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true" flipV="false" rot="-865027">
            <a:off x="658898" y="8320635"/>
            <a:ext cx="2224918" cy="1875331"/>
          </a:xfrm>
          <a:custGeom>
            <a:avLst/>
            <a:gdLst/>
            <a:ahLst/>
            <a:cxnLst/>
            <a:rect r="r" b="b" t="t" l="l"/>
            <a:pathLst>
              <a:path h="1875331" w="2224918">
                <a:moveTo>
                  <a:pt x="2224919" y="0"/>
                </a:moveTo>
                <a:lnTo>
                  <a:pt x="0" y="0"/>
                </a:lnTo>
                <a:lnTo>
                  <a:pt x="0" y="1875330"/>
                </a:lnTo>
                <a:lnTo>
                  <a:pt x="2224919" y="1875330"/>
                </a:lnTo>
                <a:lnTo>
                  <a:pt x="2224919"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1028700" y="2541140"/>
            <a:ext cx="5245851" cy="901700"/>
          </a:xfrm>
          <a:prstGeom prst="rect">
            <a:avLst/>
          </a:prstGeom>
        </p:spPr>
        <p:txBody>
          <a:bodyPr anchor="t" rtlCol="false" tIns="0" lIns="0" bIns="0" rIns="0">
            <a:spAutoFit/>
          </a:bodyPr>
          <a:lstStyle/>
          <a:p>
            <a:pPr algn="l">
              <a:lnSpc>
                <a:spcPts val="7000"/>
              </a:lnSpc>
              <a:spcBef>
                <a:spcPct val="0"/>
              </a:spcBef>
            </a:pPr>
            <a:r>
              <a:rPr lang="en-US" b="true" sz="5000">
                <a:solidFill>
                  <a:srgbClr val="1F3952"/>
                </a:solidFill>
                <a:latin typeface="Poppins Bold"/>
                <a:ea typeface="Poppins Bold"/>
                <a:cs typeface="Poppins Bold"/>
                <a:sym typeface="Poppins Bold"/>
              </a:rPr>
              <a:t>INTRODUCTION</a:t>
            </a:r>
          </a:p>
        </p:txBody>
      </p:sp>
      <p:sp>
        <p:nvSpPr>
          <p:cNvPr name="TextBox 14" id="14"/>
          <p:cNvSpPr txBox="true"/>
          <p:nvPr/>
        </p:nvSpPr>
        <p:spPr>
          <a:xfrm rot="0">
            <a:off x="1028700" y="3797300"/>
            <a:ext cx="6621462" cy="2701925"/>
          </a:xfrm>
          <a:prstGeom prst="rect">
            <a:avLst/>
          </a:prstGeom>
        </p:spPr>
        <p:txBody>
          <a:bodyPr anchor="t" rtlCol="false" tIns="0" lIns="0" bIns="0" rIns="0">
            <a:spAutoFit/>
          </a:bodyPr>
          <a:lstStyle/>
          <a:p>
            <a:pPr algn="just">
              <a:lnSpc>
                <a:spcPts val="2649"/>
              </a:lnSpc>
              <a:spcBef>
                <a:spcPct val="0"/>
              </a:spcBef>
            </a:pPr>
            <a:r>
              <a:rPr lang="en-US" sz="2499">
                <a:solidFill>
                  <a:srgbClr val="1F3952"/>
                </a:solidFill>
                <a:latin typeface="Poppins"/>
                <a:ea typeface="Poppins"/>
                <a:cs typeface="Poppins"/>
                <a:sym typeface="Poppins"/>
              </a:rPr>
              <a:t>T</a:t>
            </a:r>
            <a:r>
              <a:rPr lang="en-US" sz="2499">
                <a:solidFill>
                  <a:srgbClr val="1F3952"/>
                </a:solidFill>
                <a:latin typeface="Poppins"/>
                <a:ea typeface="Poppins"/>
                <a:cs typeface="Poppins"/>
                <a:sym typeface="Poppins"/>
              </a:rPr>
              <a:t>ravelSphere is a smart, community driven travel platform designed to make traveling easier, safer, and more organized. It brings important travel needs such as trip planning, safety updates, budgeting, travel information, and connecting with other travelers together in one place.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747" r="0" b="-16747"/>
            </a:stretch>
          </a:blipFill>
        </p:spPr>
      </p:sp>
      <p:sp>
        <p:nvSpPr>
          <p:cNvPr name="TextBox 3" id="3"/>
          <p:cNvSpPr txBox="true"/>
          <p:nvPr/>
        </p:nvSpPr>
        <p:spPr>
          <a:xfrm rot="0">
            <a:off x="6391382" y="1613939"/>
            <a:ext cx="5505237" cy="901700"/>
          </a:xfrm>
          <a:prstGeom prst="rect">
            <a:avLst/>
          </a:prstGeom>
        </p:spPr>
        <p:txBody>
          <a:bodyPr anchor="t" rtlCol="false" tIns="0" lIns="0" bIns="0" rIns="0">
            <a:spAutoFit/>
          </a:bodyPr>
          <a:lstStyle/>
          <a:p>
            <a:pPr algn="ctr">
              <a:lnSpc>
                <a:spcPts val="7000"/>
              </a:lnSpc>
              <a:spcBef>
                <a:spcPct val="0"/>
              </a:spcBef>
            </a:pPr>
            <a:r>
              <a:rPr lang="en-US" b="true" sz="5000">
                <a:solidFill>
                  <a:srgbClr val="1F3952"/>
                </a:solidFill>
                <a:latin typeface="Poppins Bold"/>
                <a:ea typeface="Poppins Bold"/>
                <a:cs typeface="Poppins Bold"/>
                <a:sym typeface="Poppins Bold"/>
              </a:rPr>
              <a:t>MOTIVATION</a:t>
            </a:r>
          </a:p>
        </p:txBody>
      </p:sp>
      <p:grpSp>
        <p:nvGrpSpPr>
          <p:cNvPr name="Group 4" id="4"/>
          <p:cNvGrpSpPr/>
          <p:nvPr/>
        </p:nvGrpSpPr>
        <p:grpSpPr>
          <a:xfrm rot="0">
            <a:off x="2085864" y="2858415"/>
            <a:ext cx="14116272" cy="5671771"/>
            <a:chOff x="0" y="0"/>
            <a:chExt cx="3717866" cy="1493800"/>
          </a:xfrm>
        </p:grpSpPr>
        <p:sp>
          <p:nvSpPr>
            <p:cNvPr name="Freeform 5" id="5"/>
            <p:cNvSpPr/>
            <p:nvPr/>
          </p:nvSpPr>
          <p:spPr>
            <a:xfrm flipH="false" flipV="false" rot="0">
              <a:off x="0" y="0"/>
              <a:ext cx="3717866" cy="1493800"/>
            </a:xfrm>
            <a:custGeom>
              <a:avLst/>
              <a:gdLst/>
              <a:ahLst/>
              <a:cxnLst/>
              <a:rect r="r" b="b" t="t" l="l"/>
              <a:pathLst>
                <a:path h="1493800" w="3717866">
                  <a:moveTo>
                    <a:pt x="39488" y="0"/>
                  </a:moveTo>
                  <a:lnTo>
                    <a:pt x="3678379" y="0"/>
                  </a:lnTo>
                  <a:cubicBezTo>
                    <a:pt x="3688851" y="0"/>
                    <a:pt x="3698895" y="4160"/>
                    <a:pt x="3706301" y="11566"/>
                  </a:cubicBezTo>
                  <a:cubicBezTo>
                    <a:pt x="3713706" y="18971"/>
                    <a:pt x="3717866" y="29015"/>
                    <a:pt x="3717866" y="39488"/>
                  </a:cubicBezTo>
                  <a:lnTo>
                    <a:pt x="3717866" y="1454312"/>
                  </a:lnTo>
                  <a:cubicBezTo>
                    <a:pt x="3717866" y="1464785"/>
                    <a:pt x="3713706" y="1474829"/>
                    <a:pt x="3706301" y="1482234"/>
                  </a:cubicBezTo>
                  <a:cubicBezTo>
                    <a:pt x="3698895" y="1489639"/>
                    <a:pt x="3688851" y="1493800"/>
                    <a:pt x="3678379" y="1493800"/>
                  </a:cubicBezTo>
                  <a:lnTo>
                    <a:pt x="39488" y="1493800"/>
                  </a:lnTo>
                  <a:cubicBezTo>
                    <a:pt x="29015" y="1493800"/>
                    <a:pt x="18971" y="1489639"/>
                    <a:pt x="11566" y="1482234"/>
                  </a:cubicBezTo>
                  <a:cubicBezTo>
                    <a:pt x="4160" y="1474829"/>
                    <a:pt x="0" y="1464785"/>
                    <a:pt x="0" y="1454312"/>
                  </a:cubicBezTo>
                  <a:lnTo>
                    <a:pt x="0" y="39488"/>
                  </a:lnTo>
                  <a:cubicBezTo>
                    <a:pt x="0" y="29015"/>
                    <a:pt x="4160" y="18971"/>
                    <a:pt x="11566" y="11566"/>
                  </a:cubicBezTo>
                  <a:cubicBezTo>
                    <a:pt x="18971" y="4160"/>
                    <a:pt x="29015" y="0"/>
                    <a:pt x="39488" y="0"/>
                  </a:cubicBezTo>
                  <a:close/>
                </a:path>
              </a:pathLst>
            </a:custGeom>
            <a:solidFill>
              <a:srgbClr val="1F3952"/>
            </a:solidFill>
            <a:ln w="85725" cap="rnd">
              <a:solidFill>
                <a:srgbClr val="F8F8F8"/>
              </a:solidFill>
              <a:prstDash val="solid"/>
              <a:round/>
            </a:ln>
          </p:spPr>
        </p:sp>
        <p:sp>
          <p:nvSpPr>
            <p:cNvPr name="TextBox 6" id="6"/>
            <p:cNvSpPr txBox="true"/>
            <p:nvPr/>
          </p:nvSpPr>
          <p:spPr>
            <a:xfrm>
              <a:off x="0" y="-57150"/>
              <a:ext cx="3717866" cy="1550950"/>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13825833" y="7355765"/>
            <a:ext cx="4415370" cy="2678881"/>
          </a:xfrm>
          <a:custGeom>
            <a:avLst/>
            <a:gdLst/>
            <a:ahLst/>
            <a:cxnLst/>
            <a:rect r="r" b="b" t="t" l="l"/>
            <a:pathLst>
              <a:path h="2678881" w="4415370">
                <a:moveTo>
                  <a:pt x="0" y="0"/>
                </a:moveTo>
                <a:lnTo>
                  <a:pt x="4415369" y="0"/>
                </a:lnTo>
                <a:lnTo>
                  <a:pt x="4415369" y="2678881"/>
                </a:lnTo>
                <a:lnTo>
                  <a:pt x="0" y="26788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867087" y="3340796"/>
            <a:ext cx="5654568"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F8F8F8"/>
                </a:solidFill>
                <a:latin typeface="Poppins Bold"/>
                <a:ea typeface="Poppins Bold"/>
                <a:cs typeface="Poppins Bold"/>
                <a:sym typeface="Poppins Bold"/>
              </a:rPr>
              <a:t>Si</a:t>
            </a:r>
            <a:r>
              <a:rPr lang="en-US" b="true" sz="2499">
                <a:solidFill>
                  <a:srgbClr val="F8F8F8"/>
                </a:solidFill>
                <a:latin typeface="Poppins Bold"/>
                <a:ea typeface="Poppins Bold"/>
                <a:cs typeface="Poppins Bold"/>
                <a:sym typeface="Poppins Bold"/>
              </a:rPr>
              <a:t>mplify Travel Planning</a:t>
            </a:r>
          </a:p>
        </p:txBody>
      </p:sp>
      <p:sp>
        <p:nvSpPr>
          <p:cNvPr name="TextBox 9" id="9"/>
          <p:cNvSpPr txBox="true"/>
          <p:nvPr/>
        </p:nvSpPr>
        <p:spPr>
          <a:xfrm rot="0">
            <a:off x="3131266" y="4108450"/>
            <a:ext cx="5126211" cy="1035050"/>
          </a:xfrm>
          <a:prstGeom prst="rect">
            <a:avLst/>
          </a:prstGeom>
        </p:spPr>
        <p:txBody>
          <a:bodyPr anchor="t" rtlCol="false" tIns="0" lIns="0" bIns="0" rIns="0">
            <a:spAutoFit/>
          </a:bodyPr>
          <a:lstStyle/>
          <a:p>
            <a:pPr algn="ctr">
              <a:lnSpc>
                <a:spcPts val="2649"/>
              </a:lnSpc>
            </a:pPr>
            <a:r>
              <a:rPr lang="en-US" sz="2499">
                <a:solidFill>
                  <a:srgbClr val="F8F8F8"/>
                </a:solidFill>
                <a:latin typeface="Poppins"/>
                <a:ea typeface="Poppins"/>
                <a:cs typeface="Poppins"/>
                <a:sym typeface="Poppins"/>
              </a:rPr>
              <a:t>Br</a:t>
            </a:r>
            <a:r>
              <a:rPr lang="en-US" sz="2499">
                <a:solidFill>
                  <a:srgbClr val="F8F8F8"/>
                </a:solidFill>
                <a:latin typeface="Poppins"/>
                <a:ea typeface="Poppins"/>
                <a:cs typeface="Poppins"/>
                <a:sym typeface="Poppins"/>
              </a:rPr>
              <a:t>ing trip planning, itineraries, navigation, weather, and travel information into one platform. </a:t>
            </a:r>
          </a:p>
        </p:txBody>
      </p:sp>
      <p:sp>
        <p:nvSpPr>
          <p:cNvPr name="TextBox 10" id="10"/>
          <p:cNvSpPr txBox="true"/>
          <p:nvPr/>
        </p:nvSpPr>
        <p:spPr>
          <a:xfrm rot="0">
            <a:off x="9586715" y="6030851"/>
            <a:ext cx="5654568"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F8F8F8"/>
                </a:solidFill>
                <a:latin typeface="Poppins Bold"/>
                <a:ea typeface="Poppins Bold"/>
                <a:cs typeface="Poppins Bold"/>
                <a:sym typeface="Poppins Bold"/>
              </a:rPr>
              <a:t>Provide Real-Time</a:t>
            </a:r>
            <a:r>
              <a:rPr lang="en-US" b="true" sz="2499">
                <a:solidFill>
                  <a:srgbClr val="F8F8F8"/>
                </a:solidFill>
                <a:latin typeface="Poppins Bold"/>
                <a:ea typeface="Poppins Bold"/>
                <a:cs typeface="Poppins Bold"/>
                <a:sym typeface="Poppins Bold"/>
              </a:rPr>
              <a:t> Information</a:t>
            </a:r>
          </a:p>
        </p:txBody>
      </p:sp>
      <p:sp>
        <p:nvSpPr>
          <p:cNvPr name="TextBox 11" id="11"/>
          <p:cNvSpPr txBox="true"/>
          <p:nvPr/>
        </p:nvSpPr>
        <p:spPr>
          <a:xfrm rot="0">
            <a:off x="9630869" y="6676315"/>
            <a:ext cx="5472272" cy="1035050"/>
          </a:xfrm>
          <a:prstGeom prst="rect">
            <a:avLst/>
          </a:prstGeom>
        </p:spPr>
        <p:txBody>
          <a:bodyPr anchor="t" rtlCol="false" tIns="0" lIns="0" bIns="0" rIns="0">
            <a:spAutoFit/>
          </a:bodyPr>
          <a:lstStyle/>
          <a:p>
            <a:pPr algn="ctr">
              <a:lnSpc>
                <a:spcPts val="2649"/>
              </a:lnSpc>
            </a:pPr>
            <a:r>
              <a:rPr lang="en-US" sz="2499">
                <a:solidFill>
                  <a:srgbClr val="F8F8F8"/>
                </a:solidFill>
                <a:latin typeface="Poppins"/>
                <a:ea typeface="Poppins"/>
                <a:cs typeface="Poppins"/>
                <a:sym typeface="Poppins"/>
              </a:rPr>
              <a:t>He</a:t>
            </a:r>
            <a:r>
              <a:rPr lang="en-US" sz="2499">
                <a:solidFill>
                  <a:srgbClr val="F8F8F8"/>
                </a:solidFill>
                <a:latin typeface="Poppins"/>
                <a:ea typeface="Poppins"/>
                <a:cs typeface="Poppins"/>
                <a:sym typeface="Poppins"/>
              </a:rPr>
              <a:t>lp travelers stay updated about weather, road conditions, safety concerns, and local situations.</a:t>
            </a:r>
          </a:p>
        </p:txBody>
      </p:sp>
      <p:sp>
        <p:nvSpPr>
          <p:cNvPr name="TextBox 12" id="12"/>
          <p:cNvSpPr txBox="true"/>
          <p:nvPr/>
        </p:nvSpPr>
        <p:spPr>
          <a:xfrm rot="0">
            <a:off x="2398877" y="6030851"/>
            <a:ext cx="6590989"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F8F8F8"/>
                </a:solidFill>
                <a:latin typeface="Poppins Bold"/>
                <a:ea typeface="Poppins Bold"/>
                <a:cs typeface="Poppins Bold"/>
                <a:sym typeface="Poppins Bold"/>
              </a:rPr>
              <a:t>Build</a:t>
            </a:r>
            <a:r>
              <a:rPr lang="en-US" b="true" sz="2499">
                <a:solidFill>
                  <a:srgbClr val="F8F8F8"/>
                </a:solidFill>
                <a:latin typeface="Poppins Bold"/>
                <a:ea typeface="Poppins Bold"/>
                <a:cs typeface="Poppins Bold"/>
                <a:sym typeface="Poppins Bold"/>
              </a:rPr>
              <a:t> a Travel Community</a:t>
            </a:r>
          </a:p>
        </p:txBody>
      </p:sp>
      <p:sp>
        <p:nvSpPr>
          <p:cNvPr name="TextBox 13" id="13"/>
          <p:cNvSpPr txBox="true"/>
          <p:nvPr/>
        </p:nvSpPr>
        <p:spPr>
          <a:xfrm rot="0">
            <a:off x="3050792" y="6676315"/>
            <a:ext cx="5287159" cy="1368425"/>
          </a:xfrm>
          <a:prstGeom prst="rect">
            <a:avLst/>
          </a:prstGeom>
        </p:spPr>
        <p:txBody>
          <a:bodyPr anchor="t" rtlCol="false" tIns="0" lIns="0" bIns="0" rIns="0">
            <a:spAutoFit/>
          </a:bodyPr>
          <a:lstStyle/>
          <a:p>
            <a:pPr algn="ctr">
              <a:lnSpc>
                <a:spcPts val="2649"/>
              </a:lnSpc>
            </a:pPr>
            <a:r>
              <a:rPr lang="en-US" sz="2499">
                <a:solidFill>
                  <a:srgbClr val="F8F8F8"/>
                </a:solidFill>
                <a:latin typeface="Poppins"/>
                <a:ea typeface="Poppins"/>
                <a:cs typeface="Poppins"/>
                <a:sym typeface="Poppins"/>
              </a:rPr>
              <a:t>Enable travelers</a:t>
            </a:r>
            <a:r>
              <a:rPr lang="en-US" sz="2499">
                <a:solidFill>
                  <a:srgbClr val="F8F8F8"/>
                </a:solidFill>
                <a:latin typeface="Poppins"/>
                <a:ea typeface="Poppins"/>
                <a:cs typeface="Poppins"/>
                <a:sym typeface="Poppins"/>
              </a:rPr>
              <a:t> to share experiences, recommendations, alerts, and connect with people visiting the same destination.</a:t>
            </a:r>
          </a:p>
        </p:txBody>
      </p:sp>
      <p:sp>
        <p:nvSpPr>
          <p:cNvPr name="TextBox 14" id="14"/>
          <p:cNvSpPr txBox="true"/>
          <p:nvPr/>
        </p:nvSpPr>
        <p:spPr>
          <a:xfrm rot="0">
            <a:off x="9539721" y="3340796"/>
            <a:ext cx="5654568"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F8F8F8"/>
                </a:solidFill>
                <a:latin typeface="Poppins Bold"/>
                <a:ea typeface="Poppins Bold"/>
                <a:cs typeface="Poppins Bold"/>
                <a:sym typeface="Poppins Bold"/>
              </a:rPr>
              <a:t>Make T</a:t>
            </a:r>
            <a:r>
              <a:rPr lang="en-US" b="true" sz="2499">
                <a:solidFill>
                  <a:srgbClr val="F8F8F8"/>
                </a:solidFill>
                <a:latin typeface="Poppins Bold"/>
                <a:ea typeface="Poppins Bold"/>
                <a:cs typeface="Poppins Bold"/>
                <a:sym typeface="Poppins Bold"/>
              </a:rPr>
              <a:t>ravel Smarter &amp; Safer</a:t>
            </a:r>
          </a:p>
        </p:txBody>
      </p:sp>
      <p:sp>
        <p:nvSpPr>
          <p:cNvPr name="TextBox 15" id="15"/>
          <p:cNvSpPr txBox="true"/>
          <p:nvPr/>
        </p:nvSpPr>
        <p:spPr>
          <a:xfrm rot="0">
            <a:off x="9492727" y="3941763"/>
            <a:ext cx="5748556" cy="1368425"/>
          </a:xfrm>
          <a:prstGeom prst="rect">
            <a:avLst/>
          </a:prstGeom>
        </p:spPr>
        <p:txBody>
          <a:bodyPr anchor="t" rtlCol="false" tIns="0" lIns="0" bIns="0" rIns="0">
            <a:spAutoFit/>
          </a:bodyPr>
          <a:lstStyle/>
          <a:p>
            <a:pPr algn="ctr">
              <a:lnSpc>
                <a:spcPts val="2649"/>
              </a:lnSpc>
            </a:pPr>
            <a:r>
              <a:rPr lang="en-US" sz="2499">
                <a:solidFill>
                  <a:srgbClr val="F8F8F8"/>
                </a:solidFill>
                <a:latin typeface="Poppins"/>
                <a:ea typeface="Poppins"/>
                <a:cs typeface="Poppins"/>
                <a:sym typeface="Poppins"/>
              </a:rPr>
              <a:t>Help users make inf</a:t>
            </a:r>
            <a:r>
              <a:rPr lang="en-US" sz="2499">
                <a:solidFill>
                  <a:srgbClr val="F8F8F8"/>
                </a:solidFill>
                <a:latin typeface="Poppins"/>
                <a:ea typeface="Poppins"/>
                <a:cs typeface="Poppins"/>
                <a:sym typeface="Poppins"/>
              </a:rPr>
              <a:t>ormed decisions, manage their budget, avoid potential risks, and enjoy better travel experiences.</a:t>
            </a:r>
          </a:p>
        </p:txBody>
      </p:sp>
      <p:sp>
        <p:nvSpPr>
          <p:cNvPr name="Freeform 16" id="16"/>
          <p:cNvSpPr/>
          <p:nvPr/>
        </p:nvSpPr>
        <p:spPr>
          <a:xfrm flipH="true" flipV="false" rot="0">
            <a:off x="0" y="7168106"/>
            <a:ext cx="2937431" cy="3118894"/>
          </a:xfrm>
          <a:custGeom>
            <a:avLst/>
            <a:gdLst/>
            <a:ahLst/>
            <a:cxnLst/>
            <a:rect r="r" b="b" t="t" l="l"/>
            <a:pathLst>
              <a:path h="3118894" w="2937431">
                <a:moveTo>
                  <a:pt x="2937431" y="0"/>
                </a:moveTo>
                <a:lnTo>
                  <a:pt x="0" y="0"/>
                </a:lnTo>
                <a:lnTo>
                  <a:pt x="0" y="3118894"/>
                </a:lnTo>
                <a:lnTo>
                  <a:pt x="2937431" y="3118894"/>
                </a:lnTo>
                <a:lnTo>
                  <a:pt x="293743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1145108">
            <a:off x="15814807" y="589642"/>
            <a:ext cx="1958911" cy="1651119"/>
          </a:xfrm>
          <a:custGeom>
            <a:avLst/>
            <a:gdLst/>
            <a:ahLst/>
            <a:cxnLst/>
            <a:rect r="r" b="b" t="t" l="l"/>
            <a:pathLst>
              <a:path h="1651119" w="1958911">
                <a:moveTo>
                  <a:pt x="0" y="0"/>
                </a:moveTo>
                <a:lnTo>
                  <a:pt x="1958911" y="0"/>
                </a:lnTo>
                <a:lnTo>
                  <a:pt x="1958911" y="1651119"/>
                </a:lnTo>
                <a:lnTo>
                  <a:pt x="0" y="16511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5990505"/>
            <a:ext cx="18288000" cy="4409683"/>
            <a:chOff x="0" y="0"/>
            <a:chExt cx="4816593" cy="1161398"/>
          </a:xfrm>
        </p:grpSpPr>
        <p:sp>
          <p:nvSpPr>
            <p:cNvPr name="Freeform 3" id="3"/>
            <p:cNvSpPr/>
            <p:nvPr/>
          </p:nvSpPr>
          <p:spPr>
            <a:xfrm flipH="false" flipV="false" rot="0">
              <a:off x="0" y="0"/>
              <a:ext cx="4816592" cy="1161398"/>
            </a:xfrm>
            <a:custGeom>
              <a:avLst/>
              <a:gdLst/>
              <a:ahLst/>
              <a:cxnLst/>
              <a:rect r="r" b="b" t="t" l="l"/>
              <a:pathLst>
                <a:path h="1161398" w="4816592">
                  <a:moveTo>
                    <a:pt x="0" y="0"/>
                  </a:moveTo>
                  <a:lnTo>
                    <a:pt x="4816592" y="0"/>
                  </a:lnTo>
                  <a:lnTo>
                    <a:pt x="4816592" y="1161398"/>
                  </a:lnTo>
                  <a:lnTo>
                    <a:pt x="0" y="1161398"/>
                  </a:lnTo>
                  <a:close/>
                </a:path>
              </a:pathLst>
            </a:custGeom>
            <a:solidFill>
              <a:srgbClr val="1F3952"/>
            </a:solidFill>
          </p:spPr>
        </p:sp>
        <p:sp>
          <p:nvSpPr>
            <p:cNvPr name="TextBox 4" id="4"/>
            <p:cNvSpPr txBox="true"/>
            <p:nvPr/>
          </p:nvSpPr>
          <p:spPr>
            <a:xfrm>
              <a:off x="0" y="-66675"/>
              <a:ext cx="4816593" cy="1228073"/>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0">
            <a:off x="12012930" y="1045857"/>
            <a:ext cx="5246370" cy="8212443"/>
            <a:chOff x="0" y="0"/>
            <a:chExt cx="812800" cy="1272322"/>
          </a:xfrm>
        </p:grpSpPr>
        <p:sp>
          <p:nvSpPr>
            <p:cNvPr name="Freeform 6" id="6"/>
            <p:cNvSpPr/>
            <p:nvPr/>
          </p:nvSpPr>
          <p:spPr>
            <a:xfrm flipH="false" flipV="false" rot="0">
              <a:off x="0" y="0"/>
              <a:ext cx="812800" cy="1272322"/>
            </a:xfrm>
            <a:custGeom>
              <a:avLst/>
              <a:gdLst/>
              <a:ahLst/>
              <a:cxnLst/>
              <a:rect r="r" b="b" t="t" l="l"/>
              <a:pathLst>
                <a:path h="1272322" w="812800">
                  <a:moveTo>
                    <a:pt x="0" y="0"/>
                  </a:moveTo>
                  <a:lnTo>
                    <a:pt x="812800" y="0"/>
                  </a:lnTo>
                  <a:lnTo>
                    <a:pt x="812800" y="1272322"/>
                  </a:lnTo>
                  <a:lnTo>
                    <a:pt x="0" y="1272322"/>
                  </a:lnTo>
                  <a:close/>
                </a:path>
              </a:pathLst>
            </a:custGeom>
            <a:blipFill>
              <a:blip r:embed="rId2"/>
              <a:stretch>
                <a:fillRect l="-67696" t="0" r="-67696" b="0"/>
              </a:stretch>
            </a:blipFill>
            <a:ln w="85725" cap="sq">
              <a:solidFill>
                <a:srgbClr val="F8F8F8"/>
              </a:solidFill>
              <a:prstDash val="solid"/>
              <a:miter/>
            </a:ln>
          </p:spPr>
        </p:sp>
      </p:grpSp>
      <p:sp>
        <p:nvSpPr>
          <p:cNvPr name="Freeform 7" id="7"/>
          <p:cNvSpPr/>
          <p:nvPr/>
        </p:nvSpPr>
        <p:spPr>
          <a:xfrm flipH="false" flipV="false" rot="1145108">
            <a:off x="9088102" y="717919"/>
            <a:ext cx="2224918" cy="1875331"/>
          </a:xfrm>
          <a:custGeom>
            <a:avLst/>
            <a:gdLst/>
            <a:ahLst/>
            <a:cxnLst/>
            <a:rect r="r" b="b" t="t" l="l"/>
            <a:pathLst>
              <a:path h="1875331" w="2224918">
                <a:moveTo>
                  <a:pt x="0" y="0"/>
                </a:moveTo>
                <a:lnTo>
                  <a:pt x="2224919" y="0"/>
                </a:lnTo>
                <a:lnTo>
                  <a:pt x="2224919" y="1875331"/>
                </a:lnTo>
                <a:lnTo>
                  <a:pt x="0" y="18753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7800190" y="7168106"/>
            <a:ext cx="2937431" cy="3118894"/>
          </a:xfrm>
          <a:custGeom>
            <a:avLst/>
            <a:gdLst/>
            <a:ahLst/>
            <a:cxnLst/>
            <a:rect r="r" b="b" t="t" l="l"/>
            <a:pathLst>
              <a:path h="3118894" w="2937431">
                <a:moveTo>
                  <a:pt x="2937432" y="0"/>
                </a:moveTo>
                <a:lnTo>
                  <a:pt x="0" y="0"/>
                </a:lnTo>
                <a:lnTo>
                  <a:pt x="0" y="3118894"/>
                </a:lnTo>
                <a:lnTo>
                  <a:pt x="2937432" y="3118894"/>
                </a:lnTo>
                <a:lnTo>
                  <a:pt x="2937432"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028700" y="2378768"/>
            <a:ext cx="8115300" cy="5002778"/>
            <a:chOff x="0" y="0"/>
            <a:chExt cx="2137363" cy="1317604"/>
          </a:xfrm>
        </p:grpSpPr>
        <p:sp>
          <p:nvSpPr>
            <p:cNvPr name="Freeform 10" id="10"/>
            <p:cNvSpPr/>
            <p:nvPr/>
          </p:nvSpPr>
          <p:spPr>
            <a:xfrm flipH="false" flipV="false" rot="0">
              <a:off x="0" y="0"/>
              <a:ext cx="2137363" cy="1317604"/>
            </a:xfrm>
            <a:custGeom>
              <a:avLst/>
              <a:gdLst/>
              <a:ahLst/>
              <a:cxnLst/>
              <a:rect r="r" b="b" t="t" l="l"/>
              <a:pathLst>
                <a:path h="1317604" w="2137363">
                  <a:moveTo>
                    <a:pt x="50562" y="0"/>
                  </a:moveTo>
                  <a:lnTo>
                    <a:pt x="2086801" y="0"/>
                  </a:lnTo>
                  <a:cubicBezTo>
                    <a:pt x="2100211" y="0"/>
                    <a:pt x="2113072" y="5327"/>
                    <a:pt x="2122554" y="14809"/>
                  </a:cubicBezTo>
                  <a:cubicBezTo>
                    <a:pt x="2132036" y="24291"/>
                    <a:pt x="2137363" y="37152"/>
                    <a:pt x="2137363" y="50562"/>
                  </a:cubicBezTo>
                  <a:lnTo>
                    <a:pt x="2137363" y="1267043"/>
                  </a:lnTo>
                  <a:cubicBezTo>
                    <a:pt x="2137363" y="1294967"/>
                    <a:pt x="2114726" y="1317604"/>
                    <a:pt x="2086801" y="1317604"/>
                  </a:cubicBezTo>
                  <a:lnTo>
                    <a:pt x="50562" y="1317604"/>
                  </a:lnTo>
                  <a:cubicBezTo>
                    <a:pt x="22637" y="1317604"/>
                    <a:pt x="0" y="1294967"/>
                    <a:pt x="0" y="1267043"/>
                  </a:cubicBezTo>
                  <a:lnTo>
                    <a:pt x="0" y="50562"/>
                  </a:lnTo>
                  <a:cubicBezTo>
                    <a:pt x="0" y="22637"/>
                    <a:pt x="22637" y="0"/>
                    <a:pt x="50562" y="0"/>
                  </a:cubicBezTo>
                  <a:close/>
                </a:path>
              </a:pathLst>
            </a:custGeom>
            <a:solidFill>
              <a:srgbClr val="28819E"/>
            </a:solidFill>
          </p:spPr>
        </p:sp>
        <p:sp>
          <p:nvSpPr>
            <p:cNvPr name="TextBox 11" id="11"/>
            <p:cNvSpPr txBox="true"/>
            <p:nvPr/>
          </p:nvSpPr>
          <p:spPr>
            <a:xfrm>
              <a:off x="0" y="-66675"/>
              <a:ext cx="2137363" cy="1384279"/>
            </a:xfrm>
            <a:prstGeom prst="rect">
              <a:avLst/>
            </a:prstGeom>
          </p:spPr>
          <p:txBody>
            <a:bodyPr anchor="ctr" rtlCol="false" tIns="50800" lIns="50800" bIns="50800" rIns="50800"/>
            <a:lstStyle/>
            <a:p>
              <a:pPr algn="ctr">
                <a:lnSpc>
                  <a:spcPts val="3499"/>
                </a:lnSpc>
              </a:pPr>
            </a:p>
          </p:txBody>
        </p:sp>
      </p:grpSp>
      <p:sp>
        <p:nvSpPr>
          <p:cNvPr name="TextBox 12" id="12"/>
          <p:cNvSpPr txBox="true"/>
          <p:nvPr/>
        </p:nvSpPr>
        <p:spPr>
          <a:xfrm rot="0">
            <a:off x="1653630" y="3650401"/>
            <a:ext cx="6865440" cy="3483625"/>
          </a:xfrm>
          <a:prstGeom prst="rect">
            <a:avLst/>
          </a:prstGeom>
        </p:spPr>
        <p:txBody>
          <a:bodyPr anchor="t" rtlCol="false" tIns="0" lIns="0" bIns="0" rIns="0">
            <a:spAutoFit/>
          </a:bodyPr>
          <a:lstStyle/>
          <a:p>
            <a:pPr algn="just">
              <a:lnSpc>
                <a:spcPts val="2747"/>
              </a:lnSpc>
              <a:spcBef>
                <a:spcPct val="0"/>
              </a:spcBef>
            </a:pPr>
            <a:r>
              <a:rPr lang="en-US" sz="2592">
                <a:solidFill>
                  <a:srgbClr val="F8F8F8"/>
                </a:solidFill>
                <a:latin typeface="Poppins"/>
                <a:ea typeface="Poppins"/>
                <a:cs typeface="Poppins"/>
                <a:sym typeface="Poppins"/>
              </a:rPr>
              <a:t>Currently, travel inf</a:t>
            </a:r>
            <a:r>
              <a:rPr lang="en-US" sz="2592">
                <a:solidFill>
                  <a:srgbClr val="F8F8F8"/>
                </a:solidFill>
                <a:latin typeface="Poppins"/>
                <a:ea typeface="Poppins"/>
                <a:cs typeface="Poppins"/>
                <a:sym typeface="Poppins"/>
              </a:rPr>
              <a:t>ormation is spread across many different platforms. Navigation apps, social media, travel blogs, safety services, and budgeting apps each solve only part of the problem. This makes it difficult for travelers to find updated and trustworthy information, manage their trip efficiently, stay aware of safety concerns, and connect with other travelers in one place.</a:t>
            </a:r>
          </a:p>
        </p:txBody>
      </p:sp>
      <p:sp>
        <p:nvSpPr>
          <p:cNvPr name="TextBox 13" id="13"/>
          <p:cNvSpPr txBox="true"/>
          <p:nvPr/>
        </p:nvSpPr>
        <p:spPr>
          <a:xfrm rot="0">
            <a:off x="1653630" y="2707621"/>
            <a:ext cx="6865440" cy="765175"/>
          </a:xfrm>
          <a:prstGeom prst="rect">
            <a:avLst/>
          </a:prstGeom>
        </p:spPr>
        <p:txBody>
          <a:bodyPr anchor="t" rtlCol="false" tIns="0" lIns="0" bIns="0" rIns="0">
            <a:spAutoFit/>
          </a:bodyPr>
          <a:lstStyle/>
          <a:p>
            <a:pPr algn="l" marL="0" indent="0" lvl="0">
              <a:lnSpc>
                <a:spcPts val="5600"/>
              </a:lnSpc>
            </a:pPr>
            <a:r>
              <a:rPr lang="en-US" b="true" sz="5000">
                <a:solidFill>
                  <a:srgbClr val="F8F8F8"/>
                </a:solidFill>
                <a:latin typeface="Poppins Bold"/>
                <a:ea typeface="Poppins Bold"/>
                <a:cs typeface="Poppins Bold"/>
                <a:sym typeface="Poppins Bold"/>
              </a:rPr>
              <a:t>PROBLEM STATEMENT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51" r="0" b="-9151"/>
            </a:stretch>
          </a:blipFill>
        </p:spPr>
      </p:sp>
      <p:sp>
        <p:nvSpPr>
          <p:cNvPr name="TextBox 3" id="3"/>
          <p:cNvSpPr txBox="true"/>
          <p:nvPr/>
        </p:nvSpPr>
        <p:spPr>
          <a:xfrm rot="0">
            <a:off x="1028700" y="2920035"/>
            <a:ext cx="4790290" cy="765175"/>
          </a:xfrm>
          <a:prstGeom prst="rect">
            <a:avLst/>
          </a:prstGeom>
        </p:spPr>
        <p:txBody>
          <a:bodyPr anchor="t" rtlCol="false" tIns="0" lIns="0" bIns="0" rIns="0">
            <a:spAutoFit/>
          </a:bodyPr>
          <a:lstStyle/>
          <a:p>
            <a:pPr algn="just" marL="0" indent="0" lvl="0">
              <a:lnSpc>
                <a:spcPts val="5600"/>
              </a:lnSpc>
            </a:pPr>
            <a:r>
              <a:rPr lang="en-US" b="true" sz="5000">
                <a:solidFill>
                  <a:srgbClr val="F8F8F8"/>
                </a:solidFill>
                <a:latin typeface="Poppins Bold"/>
                <a:ea typeface="Poppins Bold"/>
                <a:cs typeface="Poppins Bold"/>
                <a:sym typeface="Poppins Bold"/>
              </a:rPr>
              <a:t>OUR SOLUTION</a:t>
            </a:r>
          </a:p>
        </p:txBody>
      </p:sp>
      <p:sp>
        <p:nvSpPr>
          <p:cNvPr name="TextBox 4" id="4"/>
          <p:cNvSpPr txBox="true"/>
          <p:nvPr/>
        </p:nvSpPr>
        <p:spPr>
          <a:xfrm rot="0">
            <a:off x="1028700" y="4088722"/>
            <a:ext cx="10373777" cy="3482175"/>
          </a:xfrm>
          <a:prstGeom prst="rect">
            <a:avLst/>
          </a:prstGeom>
        </p:spPr>
        <p:txBody>
          <a:bodyPr anchor="t" rtlCol="false" tIns="0" lIns="0" bIns="0" rIns="0">
            <a:spAutoFit/>
          </a:bodyPr>
          <a:lstStyle/>
          <a:p>
            <a:pPr algn="just">
              <a:lnSpc>
                <a:spcPts val="2746"/>
              </a:lnSpc>
              <a:spcBef>
                <a:spcPct val="0"/>
              </a:spcBef>
            </a:pPr>
            <a:r>
              <a:rPr lang="en-US" sz="2591">
                <a:solidFill>
                  <a:srgbClr val="F8F8F8"/>
                </a:solidFill>
                <a:latin typeface="Poppins"/>
                <a:ea typeface="Poppins"/>
                <a:cs typeface="Poppins"/>
                <a:sym typeface="Poppins"/>
              </a:rPr>
              <a:t>T</a:t>
            </a:r>
            <a:r>
              <a:rPr lang="en-US" sz="2591">
                <a:solidFill>
                  <a:srgbClr val="F8F8F8"/>
                </a:solidFill>
                <a:latin typeface="Poppins"/>
                <a:ea typeface="Poppins"/>
                <a:cs typeface="Poppins"/>
                <a:sym typeface="Poppins"/>
              </a:rPr>
              <a:t>ravelSphere brings these different travel needs into a single platform. Users can plan their trips, create itineraries, track expenses, receive location-based safety and community alerts, connect with fellow travelers, and discover new places through shared experiences. The platform aims to help travelers Plan smarter, Protect themselves, Save time and money, and Discover with confidence.</a:t>
            </a:r>
          </a:p>
          <a:p>
            <a:pPr algn="just">
              <a:lnSpc>
                <a:spcPts val="2746"/>
              </a:lnSpc>
              <a:spcBef>
                <a:spcPct val="0"/>
              </a:spcBef>
            </a:pPr>
          </a:p>
          <a:p>
            <a:pPr algn="just">
              <a:lnSpc>
                <a:spcPts val="2746"/>
              </a:lnSpc>
              <a:spcBef>
                <a:spcPct val="0"/>
              </a:spcBef>
            </a:pPr>
          </a:p>
          <a:p>
            <a:pPr algn="just">
              <a:lnSpc>
                <a:spcPts val="2746"/>
              </a:lnSpc>
              <a:spcBef>
                <a:spcPct val="0"/>
              </a:spcBef>
            </a:pPr>
          </a:p>
        </p:txBody>
      </p:sp>
      <p:sp>
        <p:nvSpPr>
          <p:cNvPr name="Freeform 5" id="5"/>
          <p:cNvSpPr/>
          <p:nvPr/>
        </p:nvSpPr>
        <p:spPr>
          <a:xfrm flipH="false" flipV="false" rot="0">
            <a:off x="13825833" y="7355765"/>
            <a:ext cx="4415370" cy="2678881"/>
          </a:xfrm>
          <a:custGeom>
            <a:avLst/>
            <a:gdLst/>
            <a:ahLst/>
            <a:cxnLst/>
            <a:rect r="r" b="b" t="t" l="l"/>
            <a:pathLst>
              <a:path h="2678881" w="4415370">
                <a:moveTo>
                  <a:pt x="0" y="0"/>
                </a:moveTo>
                <a:lnTo>
                  <a:pt x="4415369" y="0"/>
                </a:lnTo>
                <a:lnTo>
                  <a:pt x="4415369" y="2678881"/>
                </a:lnTo>
                <a:lnTo>
                  <a:pt x="0" y="26788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1145108">
            <a:off x="15335570" y="742025"/>
            <a:ext cx="2224918" cy="1875331"/>
          </a:xfrm>
          <a:custGeom>
            <a:avLst/>
            <a:gdLst/>
            <a:ahLst/>
            <a:cxnLst/>
            <a:rect r="r" b="b" t="t" l="l"/>
            <a:pathLst>
              <a:path h="1875331" w="2224918">
                <a:moveTo>
                  <a:pt x="0" y="0"/>
                </a:moveTo>
                <a:lnTo>
                  <a:pt x="2224918" y="0"/>
                </a:lnTo>
                <a:lnTo>
                  <a:pt x="2224918" y="1875331"/>
                </a:lnTo>
                <a:lnTo>
                  <a:pt x="0" y="18753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DAHR6VK33qk</dc:identifier>
  <dcterms:modified xsi:type="dcterms:W3CDTF">2011-08-01T06:04:30Z</dcterms:modified>
  <cp:revision>1</cp:revision>
  <dc:title>Sphere</dc:title>
</cp:coreProperties>
</file>