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Barlow Condensed SemiBold"/>
      <p:regular r:id="rId201314"/>
    </p:embeddedFont>
    <p:embeddedFont>
      <p:font typeface="Barlow Condensed Bold"/>
      <p:regular r:id="rId201315"/>
    </p:embeddedFont>
    <p:embeddedFont>
      <p:font typeface="Public Sans"/>
      <p:regular r:id="rId201316"/>
    </p:embeddedFont>
    <p:embeddedFont>
      <p:font typeface="Public Sans SemiBold"/>
      <p:regular r:id="rId201317"/>
    </p:embeddedFont>
    <p:embeddedFont>
      <p:font typeface="Public Sans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995561"/>
            <a:ext cx="4190895" cy="12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2F6FE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TRAVEL SPHERE</a:t>
            </a:r>
            <a:endParaRPr lang="en-US" sz="48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2F6FE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PROTOTYPE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33387" y="2500908"/>
            <a:ext cx="1382976" cy="69751"/>
          </a:xfrm>
          <a:prstGeom prst="roundRect">
            <a:avLst>
              <a:gd name="adj" fmla="val 49999"/>
            </a:avLst>
          </a:prstGeom>
          <a:solidFill>
            <a:srgbClr val="E95B1D"/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2810470"/>
            <a:ext cx="480048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Plan • Protect • Save • Discover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387" y="3295551"/>
            <a:ext cx="4190895" cy="281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unified platform for discovering destinations, planning trips, and sharing travel experiences.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Designed to make travel planning personalized and convenient.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Core prototype areas: Explore, Trip Planning, Posts, User Profiles.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Current status: Frontend and backend integration in progress.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0"/>
            <a:ext cx="5079873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59746" y="0"/>
            <a:ext cx="2031949" cy="6858000"/>
          </a:xfrm>
          <a:custGeom>
            <a:avLst/>
            <a:gdLst/>
            <a:ahLst/>
            <a:cxnLst/>
            <a:rect l="l" t="t" r="r" b="b"/>
            <a:pathLst>
              <a:path w="2031949" h="6858000">
                <a:moveTo>
                  <a:pt x="0" y="0"/>
                </a:moveTo>
                <a:lnTo>
                  <a:pt x="2022424" y="0"/>
                </a:lnTo>
                <a:arcTo hR="9525" wR="9525" stAng="16200000" swAng="5400000"/>
                <a:lnTo>
                  <a:pt x="2031949" y="6848475"/>
                </a:lnTo>
                <a:arcTo hR="9525" wR="9525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9529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2F6FE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WHAT OUR PROTOTYPE OFFERS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189" y="1342430"/>
            <a:ext cx="11277318" cy="38100"/>
          </a:xfrm>
          <a:prstGeom prst="roundRect">
            <a:avLst>
              <a:gd name="adj" fmla="val 49999"/>
            </a:avLst>
          </a:prstGeom>
          <a:solidFill>
            <a:srgbClr val="09529C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21830"/>
            <a:ext cx="3682908" cy="2054225"/>
          </a:xfrm>
          <a:prstGeom prst="rect">
            <a:avLst/>
          </a:prstGeom>
          <a:noFill/>
          <a:ln w="25399">
            <a:solidFill>
              <a:srgbClr val="D5D1C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875830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182" y="2507655"/>
            <a:ext cx="317492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User Authentication — Registration and Login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292493" y="1621830"/>
            <a:ext cx="3606710" cy="2054225"/>
          </a:xfrm>
          <a:prstGeom prst="rect">
            <a:avLst/>
          </a:prstGeom>
          <a:noFill/>
          <a:ln w="25399">
            <a:solidFill>
              <a:srgbClr val="D5D1C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6" y="1875830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46486" y="2507655"/>
            <a:ext cx="3098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Explore — Discover destinations and travel content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051599" y="1621830"/>
            <a:ext cx="3682908" cy="2054225"/>
          </a:xfrm>
          <a:prstGeom prst="rect">
            <a:avLst/>
          </a:prstGeom>
          <a:noFill/>
          <a:ln w="25399">
            <a:solidFill>
              <a:srgbClr val="D5D1C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592" y="1875830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05592" y="2507655"/>
            <a:ext cx="317492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Trip Planning — Create and manage travel plans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457189" y="3828455"/>
            <a:ext cx="3682908" cy="1749425"/>
          </a:xfrm>
          <a:prstGeom prst="rect">
            <a:avLst/>
          </a:prstGeom>
          <a:noFill/>
          <a:ln w="25399">
            <a:solidFill>
              <a:srgbClr val="D5D1C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4082455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1182" y="4714280"/>
            <a:ext cx="317492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Posts — Share travel experiences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4292493" y="3828455"/>
            <a:ext cx="3606710" cy="1749425"/>
          </a:xfrm>
          <a:prstGeom prst="rect">
            <a:avLst/>
          </a:prstGeom>
          <a:noFill/>
          <a:ln w="25399">
            <a:solidFill>
              <a:srgbClr val="D5D1C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486" y="4082455"/>
            <a:ext cx="507987" cy="50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46486" y="4714280"/>
            <a:ext cx="309872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Interactions — Like and engage with posts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8051599" y="3828455"/>
            <a:ext cx="3682908" cy="1749425"/>
          </a:xfrm>
          <a:prstGeom prst="rect">
            <a:avLst/>
          </a:prstGeom>
          <a:noFill/>
          <a:ln w="25399">
            <a:solidFill>
              <a:srgbClr val="D5D1C6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592" y="4082455"/>
            <a:ext cx="507987" cy="508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05592" y="4714280"/>
            <a:ext cx="317492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Profile — View user information and activity</a:t>
            </a:r>
            <a:endParaRPr lang="en-US" sz="2000" dirty="0"/>
          </a:p>
        </p:txBody>
      </p:sp>
      <p:sp>
        <p:nvSpPr>
          <p:cNvPr id="22" name="Shape 14"/>
          <p:cNvSpPr/>
          <p:nvPr/>
        </p:nvSpPr>
        <p:spPr>
          <a:xfrm>
            <a:off x="457189" y="5704880"/>
            <a:ext cx="2067469" cy="599380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23" name="Text 15"/>
          <p:cNvSpPr/>
          <p:nvPr/>
        </p:nvSpPr>
        <p:spPr>
          <a:xfrm>
            <a:off x="660383" y="5857280"/>
            <a:ext cx="2270664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132" kern="0" dirty="0">
                <a:solidFill>
                  <a:srgbClr val="000000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FLOW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2524657" y="5704880"/>
            <a:ext cx="9209849" cy="59938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25" name="Text 17"/>
          <p:cNvSpPr/>
          <p:nvPr/>
        </p:nvSpPr>
        <p:spPr>
          <a:xfrm>
            <a:off x="2753251" y="5857280"/>
            <a:ext cx="936224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Discover → Plan → Experience → Share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2F6FE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HOW TRAVEL SPHERE WORKS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189" y="1342430"/>
            <a:ext cx="11277318" cy="38100"/>
          </a:xfrm>
          <a:prstGeom prst="roundRect">
            <a:avLst>
              <a:gd name="adj" fmla="val 49999"/>
            </a:avLst>
          </a:prstGeom>
          <a:solidFill>
            <a:srgbClr val="09529C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21830"/>
            <a:ext cx="441612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486" y="1698030"/>
            <a:ext cx="8226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2058789"/>
            <a:ext cx="2666933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163564"/>
            <a:ext cx="2666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Login / Signup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8914" y="1621830"/>
            <a:ext cx="481993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211" y="1698030"/>
            <a:ext cx="86298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8914" y="2058789"/>
            <a:ext cx="2514537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2163564"/>
            <a:ext cx="25145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Explore Destinations &amp; Posts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8244" y="1621830"/>
            <a:ext cx="487549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541" y="1698030"/>
            <a:ext cx="8685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244" y="2058789"/>
            <a:ext cx="2590735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163564"/>
            <a:ext cx="25907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Select / Plan a Trip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3771" y="1621830"/>
            <a:ext cx="486755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8068" y="1698030"/>
            <a:ext cx="8677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3771" y="2058789"/>
            <a:ext cx="2590735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71" y="2163564"/>
            <a:ext cx="25907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Manage Trip Details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189" y="3077964"/>
            <a:ext cx="490426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486" y="3154164"/>
            <a:ext cx="87141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189" y="3514923"/>
            <a:ext cx="2666933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189" y="3619698"/>
            <a:ext cx="2666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Travel &amp; Experience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8914" y="3077964"/>
            <a:ext cx="486259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3211" y="3154164"/>
            <a:ext cx="86724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28914" y="3514923"/>
            <a:ext cx="2514537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27" name="Text 25"/>
          <p:cNvSpPr/>
          <p:nvPr/>
        </p:nvSpPr>
        <p:spPr>
          <a:xfrm>
            <a:off x="3428914" y="3619698"/>
            <a:ext cx="25145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Share Experience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48244" y="3077964"/>
            <a:ext cx="477826" cy="355600"/>
          </a:xfrm>
          <a:prstGeom prst="roundRect">
            <a:avLst>
              <a:gd name="adj" fmla="val 17142"/>
            </a:avLst>
          </a:prstGeom>
          <a:solidFill>
            <a:srgbClr val="09529C"/>
          </a:solidFill>
          <a:ln w="12700">
            <a:solidFill>
              <a:srgbClr val="D5D1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2541" y="3154164"/>
            <a:ext cx="85881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48244" y="3514923"/>
            <a:ext cx="5486263" cy="19050"/>
          </a:xfrm>
          <a:prstGeom prst="rect">
            <a:avLst/>
          </a:prstGeom>
          <a:solidFill>
            <a:srgbClr val="09529C"/>
          </a:solidFill>
          <a:ln/>
        </p:spPr>
      </p:sp>
      <p:sp>
        <p:nvSpPr>
          <p:cNvPr id="31" name="Text 29"/>
          <p:cNvSpPr/>
          <p:nvPr/>
        </p:nvSpPr>
        <p:spPr>
          <a:xfrm>
            <a:off x="6248244" y="3619698"/>
            <a:ext cx="54862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Interact with the Travel Community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189" y="4153098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Frontend → Backend → Database</a:t>
            </a:r>
            <a:endParaRPr lang="en-US" sz="3400" dirty="0"/>
          </a:p>
        </p:txBody>
      </p:sp>
      <p:sp>
        <p:nvSpPr>
          <p:cNvPr id="33" name="Shape 31"/>
          <p:cNvSpPr/>
          <p:nvPr/>
        </p:nvSpPr>
        <p:spPr>
          <a:xfrm>
            <a:off x="457189" y="4832152"/>
            <a:ext cx="3759106" cy="1513681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783" y="5035352"/>
            <a:ext cx="330191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24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Frontend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5783" y="5553472"/>
            <a:ext cx="330191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Frontend handles user interaction and UI.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16295" y="4832152"/>
            <a:ext cx="3759106" cy="15136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444889" y="5035352"/>
            <a:ext cx="330191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24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Backend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444889" y="5553472"/>
            <a:ext cx="330191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Backend processes requests and application logic.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75400" y="4832152"/>
            <a:ext cx="3759106" cy="1513681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40" name="Text 38"/>
          <p:cNvSpPr/>
          <p:nvPr/>
        </p:nvSpPr>
        <p:spPr>
          <a:xfrm>
            <a:off x="8203995" y="5035352"/>
            <a:ext cx="330191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24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Database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203995" y="5553472"/>
            <a:ext cx="330191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Database stores users, trips, posts, and related data.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09945" y="4832152"/>
            <a:ext cx="12700" cy="1513681"/>
          </a:xfrm>
          <a:prstGeom prst="rect">
            <a:avLst/>
          </a:prstGeom>
          <a:solidFill>
            <a:srgbClr val="09529C">
              <a:alpha val="2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969051" y="4832152"/>
            <a:ext cx="12700" cy="1513681"/>
          </a:xfrm>
          <a:prstGeom prst="rect">
            <a:avLst/>
          </a:prstGeom>
          <a:solidFill>
            <a:srgbClr val="09529C">
              <a:alpha val="24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71698" cy="2126655"/>
          </a:xfrm>
          <a:custGeom>
            <a:avLst/>
            <a:gdLst/>
            <a:ahLst/>
            <a:cxnLst/>
            <a:rect l="l" t="t" r="r" b="b"/>
            <a:pathLst>
              <a:path w="5671698" h="2126655">
                <a:moveTo>
                  <a:pt x="9525" y="0"/>
                </a:moveTo>
                <a:lnTo>
                  <a:pt x="5671698" y="0"/>
                </a:lnTo>
                <a:lnTo>
                  <a:pt x="5671698" y="2126655"/>
                </a:lnTo>
                <a:lnTo>
                  <a:pt x="9525" y="2126655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noFill/>
          <a:ln w="19050">
            <a:solidFill>
              <a:srgbClr val="D5D1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7644" y="247650"/>
            <a:ext cx="5709797" cy="11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97" kern="0" dirty="0">
                <a:solidFill>
                  <a:srgbClr val="09529C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PROTOTYPE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7644" y="411559"/>
            <a:ext cx="5100212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b="1" spc="-25" kern="0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Current Prototype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47644" y="903784"/>
            <a:ext cx="1275028" cy="50701"/>
          </a:xfrm>
          <a:prstGeom prst="roundRect">
            <a:avLst>
              <a:gd name="adj" fmla="val 49999"/>
            </a:avLst>
          </a:prstGeom>
          <a:solidFill>
            <a:srgbClr val="09529C"/>
          </a:solidFill>
          <a:ln/>
        </p:spPr>
      </p:sp>
      <p:sp>
        <p:nvSpPr>
          <p:cNvPr id="6" name="Text 4"/>
          <p:cNvSpPr/>
          <p:nvPr/>
        </p:nvSpPr>
        <p:spPr>
          <a:xfrm>
            <a:off x="247644" y="1092696"/>
            <a:ext cx="5100212" cy="836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Functional UI for major screens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Frontend-backend communication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and travel content management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Core navigation and interaction flows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8787" y="0"/>
            <a:ext cx="6062908" cy="2126655"/>
          </a:xfrm>
          <a:custGeom>
            <a:avLst/>
            <a:gdLst/>
            <a:ahLst/>
            <a:cxnLst/>
            <a:rect l="l" t="t" r="r" b="b"/>
            <a:pathLst>
              <a:path w="6062908" h="2126655">
                <a:moveTo>
                  <a:pt x="0" y="0"/>
                </a:moveTo>
                <a:lnTo>
                  <a:pt x="6053383" y="0"/>
                </a:lnTo>
                <a:arcTo hR="9525" wR="9525" stAng="16200000" swAng="5400000"/>
                <a:lnTo>
                  <a:pt x="6062908" y="2117130"/>
                </a:lnTo>
                <a:arcTo hR="9525" wR="9525" stAng="0" swAng="5400000"/>
                <a:lnTo>
                  <a:pt x="0" y="2126655"/>
                </a:lnTo>
                <a:lnTo>
                  <a:pt x="0" y="0"/>
                </a:lnTo>
                <a:close/>
              </a:path>
            </a:pathLst>
          </a:custGeom>
          <a:solidFill>
            <a:srgbClr val="DDE7F0"/>
          </a:solidFill>
          <a:ln/>
        </p:spPr>
      </p:sp>
      <p:sp>
        <p:nvSpPr>
          <p:cNvPr id="8" name="Text 6"/>
          <p:cNvSpPr/>
          <p:nvPr/>
        </p:nvSpPr>
        <p:spPr>
          <a:xfrm>
            <a:off x="6433580" y="228600"/>
            <a:ext cx="5758115" cy="11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97" kern="0" dirty="0">
                <a:solidFill>
                  <a:srgbClr val="000000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ROADMAP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33580" y="392509"/>
            <a:ext cx="5453323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b="1" spc="-25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Next Steps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433580" y="884734"/>
            <a:ext cx="1363232" cy="50701"/>
          </a:xfrm>
          <a:prstGeom prst="roundRect">
            <a:avLst>
              <a:gd name="adj" fmla="val 49999"/>
            </a:avLst>
          </a:prstGeom>
          <a:solidFill>
            <a:srgbClr val="E95B1D"/>
          </a:solidFill>
          <a:ln/>
        </p:spPr>
      </p:sp>
      <p:sp>
        <p:nvSpPr>
          <p:cNvPr id="11" name="Text 9"/>
          <p:cNvSpPr/>
          <p:nvPr/>
        </p:nvSpPr>
        <p:spPr>
          <a:xfrm>
            <a:off x="6433580" y="1073646"/>
            <a:ext cx="5453323" cy="105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Complete remaining backend functionality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 personalization/recommendations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Testing and bug fixing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UI/UX refinement</a:t>
            </a:r>
            <a:endParaRPr lang="en-US" sz="1150" dirty="0"/>
          </a:p>
          <a:p>
            <a:pPr algn="l" marL="233680" indent="-23368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Final integration and deployment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2229148"/>
            <a:ext cx="12191695" cy="4632424"/>
          </a:xfrm>
          <a:prstGeom prst="roundRect">
            <a:avLst>
              <a:gd name="adj" fmla="val 247"/>
            </a:avLst>
          </a:prstGeom>
          <a:solidFill>
            <a:srgbClr val="09529C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2457748"/>
            <a:ext cx="12191695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Building a complete end-to-end travel experience with Travel Sphere.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735" y="2747665"/>
            <a:ext cx="7010225" cy="38853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2026-09-14T18:49:43Z</dcterms:created>
  <dcterms:modified xsi:type="dcterms:W3CDTF">2026-09-14T18:49:43Z</dcterms:modified>
</cp:coreProperties>
</file>