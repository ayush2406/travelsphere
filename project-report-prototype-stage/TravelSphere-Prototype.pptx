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0"/>
  </p:notes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Barlow Condensed Bold" charset="1" panose="00000806000000000000"/>
      <p:regular r:id="rId13"/>
    </p:embeddedFont>
    <p:embeddedFont>
      <p:font typeface="Public Sans" charset="1" panose="00000000000000000000"/>
      <p:regular r:id="rId14"/>
    </p:embeddedFont>
    <p:embeddedFont>
      <p:font typeface="Public Sans Bold" charset="1" panose="00000000000000000000"/>
      <p:regular r:id="rId16"/>
    </p:embeddedFont>
    <p:embeddedFont>
      <p:font typeface="Barlow Condensed" charset="1" panose="00000506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notesMasters/notesMaster1.xml" Type="http://schemas.openxmlformats.org/officeDocument/2006/relationships/notesMaster"/><Relationship Id="rId11" Target="theme/theme2.xml" Type="http://schemas.openxmlformats.org/officeDocument/2006/relationships/theme"/><Relationship Id="rId12" Target="notesSlides/notesSlide1.xml" Type="http://schemas.openxmlformats.org/officeDocument/2006/relationships/notes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notesSlides/notesSlide2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notesSlides/notesSlide3.xml" Type="http://schemas.openxmlformats.org/officeDocument/2006/relationships/notesSlide"/><Relationship Id="rId19" Target="notesSlides/notesSlide4.xml" Type="http://schemas.openxmlformats.org/officeDocument/2006/relationships/notes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jpe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3.jpeg" Type="http://schemas.openxmlformats.org/officeDocument/2006/relationships/image"/><Relationship Id="rId6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AF3F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8F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00710" y="1618336"/>
            <a:ext cx="6291253" cy="1742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49"/>
              </a:lnSpc>
            </a:pPr>
            <a:r>
              <a:rPr lang="en-US" b="true" sz="7205" spc="-144">
                <a:solidFill>
                  <a:srgbClr val="2F6FED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TRAVEL SPHERE</a:t>
            </a:r>
          </a:p>
          <a:p>
            <a:pPr algn="l">
              <a:lnSpc>
                <a:spcPts val="7349"/>
              </a:lnSpc>
            </a:pPr>
            <a:r>
              <a:rPr lang="en-US" b="true" sz="7205" spc="-144">
                <a:solidFill>
                  <a:srgbClr val="2F6FED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PROTOTYPE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00710" y="3754298"/>
            <a:ext cx="2076088" cy="104708"/>
            <a:chOff x="0" y="0"/>
            <a:chExt cx="2768117" cy="1396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68219" cy="139700"/>
            </a:xfrm>
            <a:custGeom>
              <a:avLst/>
              <a:gdLst/>
              <a:ahLst/>
              <a:cxnLst/>
              <a:rect r="r" b="b" t="t" l="l"/>
              <a:pathLst>
                <a:path h="139700" w="2768219">
                  <a:moveTo>
                    <a:pt x="0" y="69850"/>
                  </a:moveTo>
                  <a:cubicBezTo>
                    <a:pt x="0" y="31242"/>
                    <a:pt x="31242" y="0"/>
                    <a:pt x="69850" y="0"/>
                  </a:cubicBezTo>
                  <a:lnTo>
                    <a:pt x="2698369" y="0"/>
                  </a:lnTo>
                  <a:cubicBezTo>
                    <a:pt x="2736977" y="0"/>
                    <a:pt x="2768219" y="31242"/>
                    <a:pt x="2768219" y="69850"/>
                  </a:cubicBezTo>
                  <a:cubicBezTo>
                    <a:pt x="2768219" y="108458"/>
                    <a:pt x="2736977" y="139700"/>
                    <a:pt x="2698369" y="139700"/>
                  </a:cubicBezTo>
                  <a:lnTo>
                    <a:pt x="69850" y="139700"/>
                  </a:lnTo>
                  <a:cubicBezTo>
                    <a:pt x="31242" y="139573"/>
                    <a:pt x="0" y="108331"/>
                    <a:pt x="0" y="69850"/>
                  </a:cubicBezTo>
                  <a:close/>
                </a:path>
              </a:pathLst>
            </a:custGeom>
            <a:solidFill>
              <a:srgbClr val="E95B1D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00710" y="4152329"/>
            <a:ext cx="7206348" cy="508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sz="2401">
                <a:solidFill>
                  <a:srgbClr val="16324F"/>
                </a:solidFill>
                <a:latin typeface="Public Sans"/>
                <a:ea typeface="Public Sans"/>
                <a:cs typeface="Public Sans"/>
                <a:sym typeface="Public Sans"/>
              </a:rPr>
              <a:t>Plan • Protect • Save • Discover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0710" y="4880515"/>
            <a:ext cx="6291253" cy="4289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5018" indent="-217509" lvl="1">
              <a:lnSpc>
                <a:spcPts val="3487"/>
              </a:lnSpc>
              <a:buFont typeface="Arial"/>
              <a:buChar char="•"/>
            </a:pPr>
            <a:r>
              <a:rPr lang="en-US" sz="2401">
                <a:solidFill>
                  <a:srgbClr val="16324F"/>
                </a:solidFill>
                <a:latin typeface="Public Sans"/>
                <a:ea typeface="Public Sans"/>
                <a:cs typeface="Public Sans"/>
                <a:sym typeface="Public Sans"/>
              </a:rPr>
              <a:t>A unified platform for discovering destinations, planning trips, and sharing travel experiences.</a:t>
            </a:r>
          </a:p>
          <a:p>
            <a:pPr algn="l" marL="435018" indent="-217509" lvl="1">
              <a:lnSpc>
                <a:spcPts val="3487"/>
              </a:lnSpc>
              <a:buFont typeface="Arial"/>
              <a:buChar char="•"/>
            </a:pPr>
            <a:r>
              <a:rPr lang="en-US" sz="2401">
                <a:solidFill>
                  <a:srgbClr val="16324F"/>
                </a:solidFill>
                <a:latin typeface="Public Sans"/>
                <a:ea typeface="Public Sans"/>
                <a:cs typeface="Public Sans"/>
                <a:sym typeface="Public Sans"/>
              </a:rPr>
              <a:t>Designed to make travel planning personalized and convenient.</a:t>
            </a:r>
          </a:p>
          <a:p>
            <a:pPr algn="l" marL="435018" indent="-217509" lvl="1">
              <a:lnSpc>
                <a:spcPts val="3487"/>
              </a:lnSpc>
              <a:buFont typeface="Arial"/>
              <a:buChar char="•"/>
            </a:pPr>
            <a:r>
              <a:rPr lang="en-US" sz="2401">
                <a:solidFill>
                  <a:srgbClr val="16324F"/>
                </a:solidFill>
                <a:latin typeface="Public Sans"/>
                <a:ea typeface="Public Sans"/>
                <a:cs typeface="Public Sans"/>
                <a:sym typeface="Public Sans"/>
              </a:rPr>
              <a:t>Core prototype areas: Explore, Trip Planning, Posts, User Profiles.</a:t>
            </a:r>
          </a:p>
          <a:p>
            <a:pPr algn="l" marL="435018" indent="-217509" lvl="1">
              <a:lnSpc>
                <a:spcPts val="3487"/>
              </a:lnSpc>
              <a:buFont typeface="Arial"/>
              <a:buChar char="•"/>
            </a:pPr>
            <a:r>
              <a:rPr lang="en-US" sz="2401">
                <a:solidFill>
                  <a:srgbClr val="16324F"/>
                </a:solidFill>
                <a:latin typeface="Public Sans"/>
                <a:ea typeface="Public Sans"/>
                <a:cs typeface="Public Sans"/>
                <a:sym typeface="Public Sans"/>
              </a:rPr>
              <a:t>Current status: Frontend and backend integration in progress.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625763" y="0"/>
            <a:ext cx="7625763" cy="10295039"/>
            <a:chOff x="0" y="0"/>
            <a:chExt cx="10167684" cy="13726719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10167747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0167747">
                  <a:moveTo>
                    <a:pt x="0" y="0"/>
                  </a:moveTo>
                  <a:lnTo>
                    <a:pt x="10167747" y="0"/>
                  </a:lnTo>
                  <a:lnTo>
                    <a:pt x="10167747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3" t="0" r="-63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5251535" y="0"/>
            <a:ext cx="3050305" cy="10295039"/>
            <a:chOff x="0" y="0"/>
            <a:chExt cx="4067073" cy="1372671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6704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4067048">
                  <a:moveTo>
                    <a:pt x="0" y="0"/>
                  </a:moveTo>
                  <a:lnTo>
                    <a:pt x="4047998" y="0"/>
                  </a:lnTo>
                  <a:cubicBezTo>
                    <a:pt x="4058539" y="0"/>
                    <a:pt x="4067048" y="8509"/>
                    <a:pt x="4067048" y="19050"/>
                  </a:cubicBezTo>
                  <a:lnTo>
                    <a:pt x="4067048" y="13707618"/>
                  </a:lnTo>
                  <a:cubicBezTo>
                    <a:pt x="4067048" y="13718158"/>
                    <a:pt x="4058539" y="13726668"/>
                    <a:pt x="4047998" y="13726668"/>
                  </a:cubicBez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9529C"/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AF3F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8F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86324" y="810158"/>
            <a:ext cx="16929202" cy="809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49"/>
              </a:lnSpc>
            </a:pPr>
            <a:r>
              <a:rPr lang="en-US" b="true" sz="7205" spc="-144">
                <a:solidFill>
                  <a:srgbClr val="2F6FED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WHAT OUR PROTOTYPE OFFERS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86324" y="2015223"/>
            <a:ext cx="16929202" cy="57198"/>
            <a:chOff x="0" y="0"/>
            <a:chExt cx="22572269" cy="762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72218" cy="76200"/>
            </a:xfrm>
            <a:custGeom>
              <a:avLst/>
              <a:gdLst/>
              <a:ahLst/>
              <a:cxnLst/>
              <a:rect r="r" b="b" t="t" l="l"/>
              <a:pathLst>
                <a:path h="76200" w="22572218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22534118" y="0"/>
                  </a:lnTo>
                  <a:cubicBezTo>
                    <a:pt x="22555200" y="0"/>
                    <a:pt x="22572218" y="17018"/>
                    <a:pt x="22572218" y="38100"/>
                  </a:cubicBezTo>
                  <a:cubicBezTo>
                    <a:pt x="22572218" y="59182"/>
                    <a:pt x="22555200" y="76200"/>
                    <a:pt x="22534118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lose/>
                </a:path>
              </a:pathLst>
            </a:custGeom>
            <a:solidFill>
              <a:srgbClr val="09529C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67255" y="2415588"/>
            <a:ext cx="5566810" cy="3121876"/>
            <a:chOff x="0" y="0"/>
            <a:chExt cx="7422413" cy="41625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422388" cy="4162552"/>
            </a:xfrm>
            <a:custGeom>
              <a:avLst/>
              <a:gdLst/>
              <a:ahLst/>
              <a:cxnLst/>
              <a:rect r="r" b="b" t="t" l="l"/>
              <a:pathLst>
                <a:path h="4162552" w="7422388">
                  <a:moveTo>
                    <a:pt x="0" y="0"/>
                  </a:moveTo>
                  <a:lnTo>
                    <a:pt x="7422388" y="0"/>
                  </a:lnTo>
                  <a:lnTo>
                    <a:pt x="7422388" y="4162552"/>
                  </a:lnTo>
                  <a:lnTo>
                    <a:pt x="0" y="41625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952" t="0" r="-21953" b="1"/>
              </a:stretch>
            </a:blipFill>
            <a:ln w="38128" cap="sq">
              <a:solidFill>
                <a:srgbClr val="D5D1C6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67610" y="2815942"/>
            <a:ext cx="762581" cy="762600"/>
            <a:chOff x="0" y="0"/>
            <a:chExt cx="1016775" cy="101680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016762" cy="1016762"/>
            </a:xfrm>
            <a:custGeom>
              <a:avLst/>
              <a:gdLst/>
              <a:ahLst/>
              <a:cxnLst/>
              <a:rect r="r" b="b" t="t" l="l"/>
              <a:pathLst>
                <a:path h="1016762" w="1016762">
                  <a:moveTo>
                    <a:pt x="0" y="0"/>
                  </a:moveTo>
                  <a:lnTo>
                    <a:pt x="1016762" y="0"/>
                  </a:lnTo>
                  <a:lnTo>
                    <a:pt x="1016762" y="1016762"/>
                  </a:lnTo>
                  <a:lnTo>
                    <a:pt x="0" y="1016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2" b="-3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67610" y="3745373"/>
            <a:ext cx="4766100" cy="934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b="true" sz="3002" spc="-30">
                <a:solidFill>
                  <a:srgbClr val="16324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User Authentication — Registration and Login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424708" y="2415588"/>
            <a:ext cx="5452424" cy="3121876"/>
            <a:chOff x="0" y="0"/>
            <a:chExt cx="7269899" cy="41625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69861" cy="4162552"/>
            </a:xfrm>
            <a:custGeom>
              <a:avLst/>
              <a:gdLst/>
              <a:ahLst/>
              <a:cxnLst/>
              <a:rect r="r" b="b" t="t" l="l"/>
              <a:pathLst>
                <a:path h="4162552" w="7269861">
                  <a:moveTo>
                    <a:pt x="0" y="0"/>
                  </a:moveTo>
                  <a:lnTo>
                    <a:pt x="7269861" y="0"/>
                  </a:lnTo>
                  <a:lnTo>
                    <a:pt x="7269861" y="4162552"/>
                  </a:lnTo>
                  <a:lnTo>
                    <a:pt x="0" y="41625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462" t="0" r="-23462" b="1"/>
              </a:stretch>
            </a:blipFill>
            <a:ln w="38128" cap="sq">
              <a:solidFill>
                <a:srgbClr val="D5D1C6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825063" y="2815942"/>
            <a:ext cx="762581" cy="762600"/>
            <a:chOff x="0" y="0"/>
            <a:chExt cx="1016775" cy="1016800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1016762" cy="1016762"/>
            </a:xfrm>
            <a:custGeom>
              <a:avLst/>
              <a:gdLst/>
              <a:ahLst/>
              <a:cxnLst/>
              <a:rect r="r" b="b" t="t" l="l"/>
              <a:pathLst>
                <a:path h="1016762" w="1016762">
                  <a:moveTo>
                    <a:pt x="0" y="0"/>
                  </a:moveTo>
                  <a:lnTo>
                    <a:pt x="1016762" y="0"/>
                  </a:lnTo>
                  <a:lnTo>
                    <a:pt x="1016762" y="1016762"/>
                  </a:lnTo>
                  <a:lnTo>
                    <a:pt x="0" y="1016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2" b="-3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825063" y="3745373"/>
            <a:ext cx="4651715" cy="1391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b="true" sz="3002" spc="-30">
                <a:solidFill>
                  <a:srgbClr val="16324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Explore — Discover destinations and travel content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67775" y="2415588"/>
            <a:ext cx="5566810" cy="3121876"/>
            <a:chOff x="0" y="0"/>
            <a:chExt cx="7422413" cy="416250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422388" cy="4162552"/>
            </a:xfrm>
            <a:custGeom>
              <a:avLst/>
              <a:gdLst/>
              <a:ahLst/>
              <a:cxnLst/>
              <a:rect r="r" b="b" t="t" l="l"/>
              <a:pathLst>
                <a:path h="4162552" w="7422388">
                  <a:moveTo>
                    <a:pt x="0" y="0"/>
                  </a:moveTo>
                  <a:lnTo>
                    <a:pt x="7422388" y="0"/>
                  </a:lnTo>
                  <a:lnTo>
                    <a:pt x="7422388" y="4162552"/>
                  </a:lnTo>
                  <a:lnTo>
                    <a:pt x="0" y="41625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952" t="0" r="-21953" b="1"/>
              </a:stretch>
            </a:blipFill>
            <a:ln w="38128" cap="sq">
              <a:solidFill>
                <a:srgbClr val="D5D1C6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468130" y="2815942"/>
            <a:ext cx="762581" cy="762600"/>
            <a:chOff x="0" y="0"/>
            <a:chExt cx="1016775" cy="1016800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1016762" cy="1016762"/>
            </a:xfrm>
            <a:custGeom>
              <a:avLst/>
              <a:gdLst/>
              <a:ahLst/>
              <a:cxnLst/>
              <a:rect r="r" b="b" t="t" l="l"/>
              <a:pathLst>
                <a:path h="1016762" w="1016762">
                  <a:moveTo>
                    <a:pt x="0" y="0"/>
                  </a:moveTo>
                  <a:lnTo>
                    <a:pt x="1016762" y="0"/>
                  </a:lnTo>
                  <a:lnTo>
                    <a:pt x="1016762" y="1016762"/>
                  </a:lnTo>
                  <a:lnTo>
                    <a:pt x="0" y="1016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-2" b="-3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468130" y="3745373"/>
            <a:ext cx="4766100" cy="934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b="true" sz="3002" spc="-30">
                <a:solidFill>
                  <a:srgbClr val="16324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Trip Planning — Create and manage travel plans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67255" y="5728106"/>
            <a:ext cx="5566810" cy="2664314"/>
            <a:chOff x="0" y="0"/>
            <a:chExt cx="7422413" cy="355241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422388" cy="3552444"/>
            </a:xfrm>
            <a:custGeom>
              <a:avLst/>
              <a:gdLst/>
              <a:ahLst/>
              <a:cxnLst/>
              <a:rect r="r" b="b" t="t" l="l"/>
              <a:pathLst>
                <a:path h="3552444" w="7422388">
                  <a:moveTo>
                    <a:pt x="0" y="0"/>
                  </a:moveTo>
                  <a:lnTo>
                    <a:pt x="7422388" y="0"/>
                  </a:lnTo>
                  <a:lnTo>
                    <a:pt x="7422388" y="3552444"/>
                  </a:lnTo>
                  <a:lnTo>
                    <a:pt x="0" y="35524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407" t="0" r="-11407" b="0"/>
              </a:stretch>
            </a:blipFill>
            <a:ln w="38128" cap="sq">
              <a:solidFill>
                <a:srgbClr val="D5D1C6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067610" y="6128471"/>
            <a:ext cx="762581" cy="762600"/>
            <a:chOff x="0" y="0"/>
            <a:chExt cx="1016775" cy="101680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1016762" cy="1016762"/>
            </a:xfrm>
            <a:custGeom>
              <a:avLst/>
              <a:gdLst/>
              <a:ahLst/>
              <a:cxnLst/>
              <a:rect r="r" b="b" t="t" l="l"/>
              <a:pathLst>
                <a:path h="1016762" w="1016762">
                  <a:moveTo>
                    <a:pt x="0" y="0"/>
                  </a:moveTo>
                  <a:lnTo>
                    <a:pt x="1016762" y="0"/>
                  </a:lnTo>
                  <a:lnTo>
                    <a:pt x="1016762" y="1016762"/>
                  </a:lnTo>
                  <a:lnTo>
                    <a:pt x="0" y="1016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0" r="-2" b="-3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067610" y="7057901"/>
            <a:ext cx="4766100" cy="934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b="true" sz="3002" spc="-30">
                <a:solidFill>
                  <a:srgbClr val="16324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Posts — Share travel experiences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6424708" y="5728106"/>
            <a:ext cx="5452424" cy="2664314"/>
            <a:chOff x="0" y="0"/>
            <a:chExt cx="7269899" cy="355241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269861" cy="3552444"/>
            </a:xfrm>
            <a:custGeom>
              <a:avLst/>
              <a:gdLst/>
              <a:ahLst/>
              <a:cxnLst/>
              <a:rect r="r" b="b" t="t" l="l"/>
              <a:pathLst>
                <a:path h="3552444" w="7269861">
                  <a:moveTo>
                    <a:pt x="0" y="0"/>
                  </a:moveTo>
                  <a:lnTo>
                    <a:pt x="7269861" y="0"/>
                  </a:lnTo>
                  <a:lnTo>
                    <a:pt x="7269861" y="3552444"/>
                  </a:lnTo>
                  <a:lnTo>
                    <a:pt x="0" y="35524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695" t="0" r="-12695" b="0"/>
              </a:stretch>
            </a:blipFill>
            <a:ln w="38128" cap="sq">
              <a:solidFill>
                <a:srgbClr val="D5D1C6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6825063" y="6128471"/>
            <a:ext cx="762581" cy="762600"/>
            <a:chOff x="0" y="0"/>
            <a:chExt cx="1016775" cy="1016800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1016762" cy="1016762"/>
            </a:xfrm>
            <a:custGeom>
              <a:avLst/>
              <a:gdLst/>
              <a:ahLst/>
              <a:cxnLst/>
              <a:rect r="r" b="b" t="t" l="l"/>
              <a:pathLst>
                <a:path h="1016762" w="1016762">
                  <a:moveTo>
                    <a:pt x="0" y="0"/>
                  </a:moveTo>
                  <a:lnTo>
                    <a:pt x="1016762" y="0"/>
                  </a:lnTo>
                  <a:lnTo>
                    <a:pt x="1016762" y="1016762"/>
                  </a:lnTo>
                  <a:lnTo>
                    <a:pt x="0" y="1016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" t="0" r="-2" b="-3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6825063" y="7057901"/>
            <a:ext cx="4651715" cy="934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b="true" sz="3002" spc="-30">
                <a:solidFill>
                  <a:srgbClr val="16324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Interactions — Like and engage with posts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2067775" y="5728106"/>
            <a:ext cx="5566810" cy="2664314"/>
            <a:chOff x="0" y="0"/>
            <a:chExt cx="7422413" cy="355241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422388" cy="3552444"/>
            </a:xfrm>
            <a:custGeom>
              <a:avLst/>
              <a:gdLst/>
              <a:ahLst/>
              <a:cxnLst/>
              <a:rect r="r" b="b" t="t" l="l"/>
              <a:pathLst>
                <a:path h="3552444" w="7422388">
                  <a:moveTo>
                    <a:pt x="0" y="0"/>
                  </a:moveTo>
                  <a:lnTo>
                    <a:pt x="7422388" y="0"/>
                  </a:lnTo>
                  <a:lnTo>
                    <a:pt x="7422388" y="3552444"/>
                  </a:lnTo>
                  <a:lnTo>
                    <a:pt x="0" y="35524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407" t="0" r="-11407" b="0"/>
              </a:stretch>
            </a:blipFill>
            <a:ln w="38128" cap="sq">
              <a:solidFill>
                <a:srgbClr val="D5D1C6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2468130" y="6128471"/>
            <a:ext cx="762581" cy="762600"/>
            <a:chOff x="0" y="0"/>
            <a:chExt cx="1016775" cy="101680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1016762" cy="1016762"/>
            </a:xfrm>
            <a:custGeom>
              <a:avLst/>
              <a:gdLst/>
              <a:ahLst/>
              <a:cxnLst/>
              <a:rect r="r" b="b" t="t" l="l"/>
              <a:pathLst>
                <a:path h="1016762" w="1016762">
                  <a:moveTo>
                    <a:pt x="0" y="0"/>
                  </a:moveTo>
                  <a:lnTo>
                    <a:pt x="1016762" y="0"/>
                  </a:lnTo>
                  <a:lnTo>
                    <a:pt x="1016762" y="1016762"/>
                  </a:lnTo>
                  <a:lnTo>
                    <a:pt x="0" y="1016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2" b="-3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2468130" y="7057901"/>
            <a:ext cx="4766100" cy="934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b="true" sz="3002" spc="-30">
                <a:solidFill>
                  <a:srgbClr val="16324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Profile — View user information and activity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686324" y="8564013"/>
            <a:ext cx="3103626" cy="899770"/>
            <a:chOff x="0" y="0"/>
            <a:chExt cx="4138168" cy="119969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138168" cy="1199642"/>
            </a:xfrm>
            <a:custGeom>
              <a:avLst/>
              <a:gdLst/>
              <a:ahLst/>
              <a:cxnLst/>
              <a:rect r="r" b="b" t="t" l="l"/>
              <a:pathLst>
                <a:path h="1199642" w="4138168">
                  <a:moveTo>
                    <a:pt x="0" y="0"/>
                  </a:moveTo>
                  <a:lnTo>
                    <a:pt x="4138168" y="0"/>
                  </a:lnTo>
                  <a:lnTo>
                    <a:pt x="4138168" y="1199642"/>
                  </a:lnTo>
                  <a:lnTo>
                    <a:pt x="0" y="1199642"/>
                  </a:lnTo>
                  <a:close/>
                </a:path>
              </a:pathLst>
            </a:custGeom>
            <a:solidFill>
              <a:srgbClr val="DDE7F0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991352" y="8792785"/>
            <a:ext cx="3408655" cy="241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2"/>
              </a:lnSpc>
            </a:pPr>
            <a:r>
              <a:rPr lang="en-US" sz="1651" spc="198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FLOW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3789950" y="8564013"/>
            <a:ext cx="13825576" cy="899770"/>
            <a:chOff x="0" y="0"/>
            <a:chExt cx="18434101" cy="119969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8434050" cy="1199642"/>
            </a:xfrm>
            <a:custGeom>
              <a:avLst/>
              <a:gdLst/>
              <a:ahLst/>
              <a:cxnLst/>
              <a:rect r="r" b="b" t="t" l="l"/>
              <a:pathLst>
                <a:path h="1199642" w="18434050">
                  <a:moveTo>
                    <a:pt x="0" y="0"/>
                  </a:moveTo>
                  <a:lnTo>
                    <a:pt x="18434050" y="0"/>
                  </a:lnTo>
                  <a:lnTo>
                    <a:pt x="18434050" y="1199642"/>
                  </a:lnTo>
                  <a:lnTo>
                    <a:pt x="0" y="1199642"/>
                  </a:lnTo>
                  <a:close/>
                </a:path>
              </a:pathLst>
            </a:custGeom>
            <a:solidFill>
              <a:srgbClr val="09529C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4133107" y="8726110"/>
            <a:ext cx="14054347" cy="508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sz="2401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Discover → Plan → Experience → Share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AF3F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8F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86324" y="810158"/>
            <a:ext cx="16929202" cy="809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49"/>
              </a:lnSpc>
            </a:pPr>
            <a:r>
              <a:rPr lang="en-US" b="true" sz="7205" spc="-144">
                <a:solidFill>
                  <a:srgbClr val="2F6FED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HOW TRAVEL SPHERE WORKS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86324" y="2015223"/>
            <a:ext cx="16929202" cy="57198"/>
            <a:chOff x="0" y="0"/>
            <a:chExt cx="22572269" cy="762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72218" cy="76200"/>
            </a:xfrm>
            <a:custGeom>
              <a:avLst/>
              <a:gdLst/>
              <a:ahLst/>
              <a:cxnLst/>
              <a:rect r="r" b="b" t="t" l="l"/>
              <a:pathLst>
                <a:path h="76200" w="22572218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22534118" y="0"/>
                  </a:lnTo>
                  <a:cubicBezTo>
                    <a:pt x="22555200" y="0"/>
                    <a:pt x="22572218" y="17018"/>
                    <a:pt x="22572218" y="38100"/>
                  </a:cubicBezTo>
                  <a:cubicBezTo>
                    <a:pt x="22572218" y="59182"/>
                    <a:pt x="22555200" y="76200"/>
                    <a:pt x="22534118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lose/>
                </a:path>
              </a:pathLst>
            </a:custGeom>
            <a:solidFill>
              <a:srgbClr val="09529C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76789" y="2425113"/>
            <a:ext cx="682000" cy="552879"/>
            <a:chOff x="0" y="0"/>
            <a:chExt cx="909333" cy="7371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09320" cy="737235"/>
            </a:xfrm>
            <a:custGeom>
              <a:avLst/>
              <a:gdLst/>
              <a:ahLst/>
              <a:cxnLst/>
              <a:rect r="r" b="b" t="t" l="l"/>
              <a:pathLst>
                <a:path h="737235" w="909320">
                  <a:moveTo>
                    <a:pt x="0" y="126365"/>
                  </a:moveTo>
                  <a:cubicBezTo>
                    <a:pt x="0" y="56515"/>
                    <a:pt x="56515" y="0"/>
                    <a:pt x="126365" y="0"/>
                  </a:cubicBezTo>
                  <a:lnTo>
                    <a:pt x="782955" y="0"/>
                  </a:lnTo>
                  <a:cubicBezTo>
                    <a:pt x="852805" y="0"/>
                    <a:pt x="909320" y="56515"/>
                    <a:pt x="909320" y="126365"/>
                  </a:cubicBezTo>
                  <a:lnTo>
                    <a:pt x="909320" y="610870"/>
                  </a:lnTo>
                  <a:cubicBezTo>
                    <a:pt x="909320" y="680720"/>
                    <a:pt x="852805" y="737235"/>
                    <a:pt x="782955" y="737235"/>
                  </a:cubicBezTo>
                  <a:lnTo>
                    <a:pt x="126365" y="737235"/>
                  </a:lnTo>
                  <a:cubicBezTo>
                    <a:pt x="56515" y="737235"/>
                    <a:pt x="0" y="680593"/>
                    <a:pt x="0" y="610870"/>
                  </a:cubicBezTo>
                  <a:close/>
                </a:path>
              </a:pathLst>
            </a:custGeom>
            <a:solidFill>
              <a:srgbClr val="09529C"/>
            </a:solidFill>
            <a:ln w="19065" cap="sq">
              <a:solidFill>
                <a:srgbClr val="D5D1C6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857898" y="2587133"/>
            <a:ext cx="1234869" cy="26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2401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01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86324" y="3090596"/>
            <a:ext cx="4003529" cy="28594"/>
            <a:chOff x="0" y="0"/>
            <a:chExt cx="5338039" cy="381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38064" cy="38100"/>
            </a:xfrm>
            <a:custGeom>
              <a:avLst/>
              <a:gdLst/>
              <a:ahLst/>
              <a:cxnLst/>
              <a:rect r="r" b="b" t="t" l="l"/>
              <a:pathLst>
                <a:path h="38100" w="5338064">
                  <a:moveTo>
                    <a:pt x="0" y="0"/>
                  </a:moveTo>
                  <a:lnTo>
                    <a:pt x="5338064" y="0"/>
                  </a:lnTo>
                  <a:lnTo>
                    <a:pt x="533806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9529C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86324" y="3228832"/>
            <a:ext cx="4003529" cy="476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b="true" sz="3002" spc="-30">
                <a:solidFill>
                  <a:srgbClr val="16324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Login / Signup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137861" y="2425113"/>
            <a:ext cx="742617" cy="552879"/>
            <a:chOff x="0" y="0"/>
            <a:chExt cx="990156" cy="7371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90219" cy="737235"/>
            </a:xfrm>
            <a:custGeom>
              <a:avLst/>
              <a:gdLst/>
              <a:ahLst/>
              <a:cxnLst/>
              <a:rect r="r" b="b" t="t" l="l"/>
              <a:pathLst>
                <a:path h="737235" w="990219">
                  <a:moveTo>
                    <a:pt x="0" y="126365"/>
                  </a:moveTo>
                  <a:cubicBezTo>
                    <a:pt x="0" y="56515"/>
                    <a:pt x="56515" y="0"/>
                    <a:pt x="126365" y="0"/>
                  </a:cubicBezTo>
                  <a:lnTo>
                    <a:pt x="863854" y="0"/>
                  </a:lnTo>
                  <a:cubicBezTo>
                    <a:pt x="933704" y="0"/>
                    <a:pt x="990219" y="56515"/>
                    <a:pt x="990219" y="126365"/>
                  </a:cubicBezTo>
                  <a:lnTo>
                    <a:pt x="990219" y="610870"/>
                  </a:lnTo>
                  <a:cubicBezTo>
                    <a:pt x="990219" y="680720"/>
                    <a:pt x="933704" y="737235"/>
                    <a:pt x="863854" y="737235"/>
                  </a:cubicBezTo>
                  <a:lnTo>
                    <a:pt x="126365" y="737235"/>
                  </a:lnTo>
                  <a:cubicBezTo>
                    <a:pt x="56515" y="737235"/>
                    <a:pt x="0" y="680593"/>
                    <a:pt x="0" y="610870"/>
                  </a:cubicBezTo>
                  <a:close/>
                </a:path>
              </a:pathLst>
            </a:custGeom>
            <a:solidFill>
              <a:srgbClr val="09529C"/>
            </a:solidFill>
            <a:ln w="19065" cap="sq">
              <a:solidFill>
                <a:srgbClr val="D5D1C6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5318970" y="2587133"/>
            <a:ext cx="1295486" cy="26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2401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02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147396" y="3090596"/>
            <a:ext cx="3774758" cy="28594"/>
            <a:chOff x="0" y="0"/>
            <a:chExt cx="5033010" cy="3812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033010" cy="38100"/>
            </a:xfrm>
            <a:custGeom>
              <a:avLst/>
              <a:gdLst/>
              <a:ahLst/>
              <a:cxnLst/>
              <a:rect r="r" b="b" t="t" l="l"/>
              <a:pathLst>
                <a:path h="38100" w="5033010">
                  <a:moveTo>
                    <a:pt x="0" y="0"/>
                  </a:moveTo>
                  <a:lnTo>
                    <a:pt x="5033010" y="0"/>
                  </a:lnTo>
                  <a:lnTo>
                    <a:pt x="503301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9529C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5147396" y="3228832"/>
            <a:ext cx="3774758" cy="934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b="true" sz="3002" spc="-30">
                <a:solidFill>
                  <a:srgbClr val="16324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Explore Destinations &amp; Posts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370162" y="2425113"/>
            <a:ext cx="750961" cy="552879"/>
            <a:chOff x="0" y="0"/>
            <a:chExt cx="1001281" cy="73717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1268" cy="737235"/>
            </a:xfrm>
            <a:custGeom>
              <a:avLst/>
              <a:gdLst/>
              <a:ahLst/>
              <a:cxnLst/>
              <a:rect r="r" b="b" t="t" l="l"/>
              <a:pathLst>
                <a:path h="737235" w="1001268">
                  <a:moveTo>
                    <a:pt x="0" y="126365"/>
                  </a:moveTo>
                  <a:cubicBezTo>
                    <a:pt x="0" y="56515"/>
                    <a:pt x="56515" y="0"/>
                    <a:pt x="126365" y="0"/>
                  </a:cubicBezTo>
                  <a:lnTo>
                    <a:pt x="874903" y="0"/>
                  </a:lnTo>
                  <a:cubicBezTo>
                    <a:pt x="944753" y="0"/>
                    <a:pt x="1001268" y="56515"/>
                    <a:pt x="1001268" y="126365"/>
                  </a:cubicBezTo>
                  <a:lnTo>
                    <a:pt x="1001268" y="610870"/>
                  </a:lnTo>
                  <a:cubicBezTo>
                    <a:pt x="1001268" y="680720"/>
                    <a:pt x="944753" y="737235"/>
                    <a:pt x="874903" y="737235"/>
                  </a:cubicBezTo>
                  <a:lnTo>
                    <a:pt x="126365" y="737235"/>
                  </a:lnTo>
                  <a:cubicBezTo>
                    <a:pt x="56515" y="737235"/>
                    <a:pt x="0" y="680593"/>
                    <a:pt x="0" y="610870"/>
                  </a:cubicBezTo>
                  <a:close/>
                </a:path>
              </a:pathLst>
            </a:custGeom>
            <a:solidFill>
              <a:srgbClr val="09529C"/>
            </a:solidFill>
            <a:ln w="19065" cap="sq">
              <a:solidFill>
                <a:srgbClr val="D5D1C6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9551270" y="2587133"/>
            <a:ext cx="1303830" cy="26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2401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03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379696" y="3090596"/>
            <a:ext cx="3889143" cy="28594"/>
            <a:chOff x="0" y="0"/>
            <a:chExt cx="5185524" cy="3812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85537" cy="38100"/>
            </a:xfrm>
            <a:custGeom>
              <a:avLst/>
              <a:gdLst/>
              <a:ahLst/>
              <a:cxnLst/>
              <a:rect r="r" b="b" t="t" l="l"/>
              <a:pathLst>
                <a:path h="38100" w="5185537">
                  <a:moveTo>
                    <a:pt x="0" y="0"/>
                  </a:moveTo>
                  <a:lnTo>
                    <a:pt x="5185537" y="0"/>
                  </a:lnTo>
                  <a:lnTo>
                    <a:pt x="518553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9529C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379696" y="3228832"/>
            <a:ext cx="3889143" cy="476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b="true" sz="3002" spc="-30">
                <a:solidFill>
                  <a:srgbClr val="16324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Select / Plan a Trip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3716848" y="2425113"/>
            <a:ext cx="749770" cy="552879"/>
            <a:chOff x="0" y="0"/>
            <a:chExt cx="999693" cy="73717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99744" cy="737235"/>
            </a:xfrm>
            <a:custGeom>
              <a:avLst/>
              <a:gdLst/>
              <a:ahLst/>
              <a:cxnLst/>
              <a:rect r="r" b="b" t="t" l="l"/>
              <a:pathLst>
                <a:path h="737235" w="999744">
                  <a:moveTo>
                    <a:pt x="0" y="126365"/>
                  </a:moveTo>
                  <a:cubicBezTo>
                    <a:pt x="0" y="56515"/>
                    <a:pt x="56515" y="0"/>
                    <a:pt x="126365" y="0"/>
                  </a:cubicBezTo>
                  <a:lnTo>
                    <a:pt x="873379" y="0"/>
                  </a:lnTo>
                  <a:cubicBezTo>
                    <a:pt x="943229" y="0"/>
                    <a:pt x="999744" y="56515"/>
                    <a:pt x="999744" y="126365"/>
                  </a:cubicBezTo>
                  <a:lnTo>
                    <a:pt x="999744" y="610870"/>
                  </a:lnTo>
                  <a:cubicBezTo>
                    <a:pt x="999744" y="680720"/>
                    <a:pt x="943229" y="737235"/>
                    <a:pt x="873379" y="737235"/>
                  </a:cubicBezTo>
                  <a:lnTo>
                    <a:pt x="126365" y="737235"/>
                  </a:lnTo>
                  <a:cubicBezTo>
                    <a:pt x="56515" y="737235"/>
                    <a:pt x="0" y="680593"/>
                    <a:pt x="0" y="610870"/>
                  </a:cubicBezTo>
                  <a:close/>
                </a:path>
              </a:pathLst>
            </a:custGeom>
            <a:solidFill>
              <a:srgbClr val="09529C"/>
            </a:solidFill>
            <a:ln w="19065" cap="sq">
              <a:solidFill>
                <a:srgbClr val="D5D1C6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3897956" y="2587133"/>
            <a:ext cx="1302639" cy="26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2401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04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3726382" y="3090596"/>
            <a:ext cx="3889143" cy="28594"/>
            <a:chOff x="0" y="0"/>
            <a:chExt cx="5185524" cy="3812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185537" cy="38100"/>
            </a:xfrm>
            <a:custGeom>
              <a:avLst/>
              <a:gdLst/>
              <a:ahLst/>
              <a:cxnLst/>
              <a:rect r="r" b="b" t="t" l="l"/>
              <a:pathLst>
                <a:path h="38100" w="5185537">
                  <a:moveTo>
                    <a:pt x="0" y="0"/>
                  </a:moveTo>
                  <a:lnTo>
                    <a:pt x="5185537" y="0"/>
                  </a:lnTo>
                  <a:lnTo>
                    <a:pt x="518553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9529C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3726382" y="3228832"/>
            <a:ext cx="3889143" cy="476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b="true" sz="3002" spc="-30">
                <a:solidFill>
                  <a:srgbClr val="16324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Manage Trip Details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676789" y="4611024"/>
            <a:ext cx="755275" cy="552879"/>
            <a:chOff x="0" y="0"/>
            <a:chExt cx="1007034" cy="73717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983" cy="737235"/>
            </a:xfrm>
            <a:custGeom>
              <a:avLst/>
              <a:gdLst/>
              <a:ahLst/>
              <a:cxnLst/>
              <a:rect r="r" b="b" t="t" l="l"/>
              <a:pathLst>
                <a:path h="737235" w="1006983">
                  <a:moveTo>
                    <a:pt x="0" y="126365"/>
                  </a:moveTo>
                  <a:cubicBezTo>
                    <a:pt x="0" y="56515"/>
                    <a:pt x="56515" y="0"/>
                    <a:pt x="126365" y="0"/>
                  </a:cubicBezTo>
                  <a:lnTo>
                    <a:pt x="880618" y="0"/>
                  </a:lnTo>
                  <a:cubicBezTo>
                    <a:pt x="950468" y="0"/>
                    <a:pt x="1006983" y="56515"/>
                    <a:pt x="1006983" y="126365"/>
                  </a:cubicBezTo>
                  <a:lnTo>
                    <a:pt x="1006983" y="610870"/>
                  </a:lnTo>
                  <a:cubicBezTo>
                    <a:pt x="1006983" y="680720"/>
                    <a:pt x="950468" y="737235"/>
                    <a:pt x="880618" y="737235"/>
                  </a:cubicBezTo>
                  <a:lnTo>
                    <a:pt x="126365" y="737235"/>
                  </a:lnTo>
                  <a:cubicBezTo>
                    <a:pt x="56515" y="737235"/>
                    <a:pt x="0" y="680593"/>
                    <a:pt x="0" y="610870"/>
                  </a:cubicBezTo>
                  <a:close/>
                </a:path>
              </a:pathLst>
            </a:custGeom>
            <a:solidFill>
              <a:srgbClr val="09529C"/>
            </a:solidFill>
            <a:ln w="19065" cap="sq">
              <a:solidFill>
                <a:srgbClr val="D5D1C6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857898" y="4773044"/>
            <a:ext cx="1308144" cy="26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2401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05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86324" y="5276507"/>
            <a:ext cx="4003529" cy="28594"/>
            <a:chOff x="0" y="0"/>
            <a:chExt cx="5338039" cy="3812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338064" cy="38100"/>
            </a:xfrm>
            <a:custGeom>
              <a:avLst/>
              <a:gdLst/>
              <a:ahLst/>
              <a:cxnLst/>
              <a:rect r="r" b="b" t="t" l="l"/>
              <a:pathLst>
                <a:path h="38100" w="5338064">
                  <a:moveTo>
                    <a:pt x="0" y="0"/>
                  </a:moveTo>
                  <a:lnTo>
                    <a:pt x="5338064" y="0"/>
                  </a:lnTo>
                  <a:lnTo>
                    <a:pt x="533806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9529C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686324" y="5414743"/>
            <a:ext cx="4003529" cy="476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b="true" sz="3002" spc="-30">
                <a:solidFill>
                  <a:srgbClr val="16324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Travel &amp; Experience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5137861" y="4611024"/>
            <a:ext cx="749027" cy="552879"/>
            <a:chOff x="0" y="0"/>
            <a:chExt cx="998703" cy="73717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98728" cy="737235"/>
            </a:xfrm>
            <a:custGeom>
              <a:avLst/>
              <a:gdLst/>
              <a:ahLst/>
              <a:cxnLst/>
              <a:rect r="r" b="b" t="t" l="l"/>
              <a:pathLst>
                <a:path h="737235" w="998728">
                  <a:moveTo>
                    <a:pt x="0" y="126365"/>
                  </a:moveTo>
                  <a:cubicBezTo>
                    <a:pt x="0" y="56515"/>
                    <a:pt x="56515" y="0"/>
                    <a:pt x="126365" y="0"/>
                  </a:cubicBezTo>
                  <a:lnTo>
                    <a:pt x="872363" y="0"/>
                  </a:lnTo>
                  <a:cubicBezTo>
                    <a:pt x="942213" y="0"/>
                    <a:pt x="998728" y="56515"/>
                    <a:pt x="998728" y="126365"/>
                  </a:cubicBezTo>
                  <a:lnTo>
                    <a:pt x="998728" y="610870"/>
                  </a:lnTo>
                  <a:cubicBezTo>
                    <a:pt x="998728" y="680720"/>
                    <a:pt x="942213" y="737235"/>
                    <a:pt x="872363" y="737235"/>
                  </a:cubicBezTo>
                  <a:lnTo>
                    <a:pt x="126365" y="737235"/>
                  </a:lnTo>
                  <a:cubicBezTo>
                    <a:pt x="56515" y="737235"/>
                    <a:pt x="0" y="680593"/>
                    <a:pt x="0" y="610870"/>
                  </a:cubicBezTo>
                  <a:close/>
                </a:path>
              </a:pathLst>
            </a:custGeom>
            <a:solidFill>
              <a:srgbClr val="09529C"/>
            </a:solidFill>
            <a:ln w="19065" cap="sq">
              <a:solidFill>
                <a:srgbClr val="D5D1C6"/>
              </a:solidFill>
              <a:prstDash val="solid"/>
              <a:miter/>
            </a:ln>
          </p:spPr>
        </p:sp>
      </p:grpSp>
      <p:sp>
        <p:nvSpPr>
          <p:cNvPr name="TextBox 41" id="41"/>
          <p:cNvSpPr txBox="true"/>
          <p:nvPr/>
        </p:nvSpPr>
        <p:spPr>
          <a:xfrm rot="0">
            <a:off x="5318970" y="4773044"/>
            <a:ext cx="1301887" cy="26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2401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06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5147396" y="5276507"/>
            <a:ext cx="3774758" cy="28594"/>
            <a:chOff x="0" y="0"/>
            <a:chExt cx="5033010" cy="3812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033010" cy="38100"/>
            </a:xfrm>
            <a:custGeom>
              <a:avLst/>
              <a:gdLst/>
              <a:ahLst/>
              <a:cxnLst/>
              <a:rect r="r" b="b" t="t" l="l"/>
              <a:pathLst>
                <a:path h="38100" w="5033010">
                  <a:moveTo>
                    <a:pt x="0" y="0"/>
                  </a:moveTo>
                  <a:lnTo>
                    <a:pt x="5033010" y="0"/>
                  </a:lnTo>
                  <a:lnTo>
                    <a:pt x="503301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9529C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5147396" y="5414743"/>
            <a:ext cx="3774758" cy="476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b="true" sz="3002" spc="-30">
                <a:solidFill>
                  <a:srgbClr val="16324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Share Experience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9370162" y="4611024"/>
            <a:ext cx="736368" cy="552879"/>
            <a:chOff x="0" y="0"/>
            <a:chExt cx="981824" cy="73717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81837" cy="737235"/>
            </a:xfrm>
            <a:custGeom>
              <a:avLst/>
              <a:gdLst/>
              <a:ahLst/>
              <a:cxnLst/>
              <a:rect r="r" b="b" t="t" l="l"/>
              <a:pathLst>
                <a:path h="737235" w="981837">
                  <a:moveTo>
                    <a:pt x="0" y="126365"/>
                  </a:moveTo>
                  <a:cubicBezTo>
                    <a:pt x="0" y="56515"/>
                    <a:pt x="56515" y="0"/>
                    <a:pt x="126365" y="0"/>
                  </a:cubicBezTo>
                  <a:lnTo>
                    <a:pt x="855472" y="0"/>
                  </a:lnTo>
                  <a:cubicBezTo>
                    <a:pt x="925322" y="0"/>
                    <a:pt x="981837" y="56515"/>
                    <a:pt x="981837" y="126365"/>
                  </a:cubicBezTo>
                  <a:lnTo>
                    <a:pt x="981837" y="610870"/>
                  </a:lnTo>
                  <a:cubicBezTo>
                    <a:pt x="981837" y="680720"/>
                    <a:pt x="925322" y="737235"/>
                    <a:pt x="855472" y="737235"/>
                  </a:cubicBezTo>
                  <a:lnTo>
                    <a:pt x="126365" y="737235"/>
                  </a:lnTo>
                  <a:cubicBezTo>
                    <a:pt x="56515" y="737235"/>
                    <a:pt x="0" y="680593"/>
                    <a:pt x="0" y="610870"/>
                  </a:cubicBezTo>
                  <a:close/>
                </a:path>
              </a:pathLst>
            </a:custGeom>
            <a:solidFill>
              <a:srgbClr val="09529C"/>
            </a:solidFill>
            <a:ln w="19065" cap="sq">
              <a:solidFill>
                <a:srgbClr val="D5D1C6"/>
              </a:solidFill>
              <a:prstDash val="solid"/>
              <a:miter/>
            </a:ln>
          </p:spPr>
        </p:sp>
      </p:grpSp>
      <p:sp>
        <p:nvSpPr>
          <p:cNvPr name="TextBox 47" id="47"/>
          <p:cNvSpPr txBox="true"/>
          <p:nvPr/>
        </p:nvSpPr>
        <p:spPr>
          <a:xfrm rot="0">
            <a:off x="9551270" y="4773044"/>
            <a:ext cx="1289228" cy="26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2401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07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9379696" y="5276507"/>
            <a:ext cx="8235829" cy="28594"/>
            <a:chOff x="0" y="0"/>
            <a:chExt cx="10981106" cy="3812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81055" cy="38100"/>
            </a:xfrm>
            <a:custGeom>
              <a:avLst/>
              <a:gdLst/>
              <a:ahLst/>
              <a:cxnLst/>
              <a:rect r="r" b="b" t="t" l="l"/>
              <a:pathLst>
                <a:path h="38100" w="10981055">
                  <a:moveTo>
                    <a:pt x="0" y="0"/>
                  </a:moveTo>
                  <a:lnTo>
                    <a:pt x="10981055" y="0"/>
                  </a:lnTo>
                  <a:lnTo>
                    <a:pt x="1098105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9529C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9379696" y="5414743"/>
            <a:ext cx="8235829" cy="476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b="true" sz="3002" spc="-30">
                <a:solidFill>
                  <a:srgbClr val="16324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Interact with the Travel Community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86324" y="6282147"/>
            <a:ext cx="16929202" cy="65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2"/>
              </a:lnSpc>
            </a:pPr>
            <a:r>
              <a:rPr lang="en-US" b="true" sz="5103" spc="-51">
                <a:solidFill>
                  <a:srgbClr val="16324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Frontend → Backend → Database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686324" y="7253897"/>
            <a:ext cx="5643067" cy="2272294"/>
            <a:chOff x="0" y="0"/>
            <a:chExt cx="7524090" cy="302972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524115" cy="3029712"/>
            </a:xfrm>
            <a:custGeom>
              <a:avLst/>
              <a:gdLst/>
              <a:ahLst/>
              <a:cxnLst/>
              <a:rect r="r" b="b" t="t" l="l"/>
              <a:pathLst>
                <a:path h="3029712" w="7524115">
                  <a:moveTo>
                    <a:pt x="0" y="0"/>
                  </a:moveTo>
                  <a:lnTo>
                    <a:pt x="7524115" y="0"/>
                  </a:lnTo>
                  <a:lnTo>
                    <a:pt x="7524115" y="3029712"/>
                  </a:lnTo>
                  <a:lnTo>
                    <a:pt x="0" y="3029712"/>
                  </a:lnTo>
                  <a:close/>
                </a:path>
              </a:pathLst>
            </a:custGeom>
            <a:solidFill>
              <a:srgbClr val="DDE7F0"/>
            </a:solid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1029481" y="7549410"/>
            <a:ext cx="4956743" cy="558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b="true" sz="3602" spc="-36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Frontend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29481" y="8270043"/>
            <a:ext cx="4956743" cy="95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sz="2401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Frontend handles user interaction and UI.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6329391" y="7253897"/>
            <a:ext cx="5643067" cy="2272294"/>
            <a:chOff x="0" y="0"/>
            <a:chExt cx="7524090" cy="302972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524115" cy="3029712"/>
            </a:xfrm>
            <a:custGeom>
              <a:avLst/>
              <a:gdLst/>
              <a:ahLst/>
              <a:cxnLst/>
              <a:rect r="r" b="b" t="t" l="l"/>
              <a:pathLst>
                <a:path h="3029712" w="7524115">
                  <a:moveTo>
                    <a:pt x="0" y="0"/>
                  </a:moveTo>
                  <a:lnTo>
                    <a:pt x="7524115" y="0"/>
                  </a:lnTo>
                  <a:lnTo>
                    <a:pt x="7524115" y="3029712"/>
                  </a:lnTo>
                  <a:lnTo>
                    <a:pt x="0" y="302971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6672548" y="7549410"/>
            <a:ext cx="4956743" cy="558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b="true" sz="3602" spc="-36">
                <a:solidFill>
                  <a:srgbClr val="16324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Backend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672548" y="8270043"/>
            <a:ext cx="4956743" cy="95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sz="2401">
                <a:solidFill>
                  <a:srgbClr val="16324F"/>
                </a:solidFill>
                <a:latin typeface="Public Sans"/>
                <a:ea typeface="Public Sans"/>
                <a:cs typeface="Public Sans"/>
                <a:sym typeface="Public Sans"/>
              </a:rPr>
              <a:t>Backend processes requests and application logic.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11972449" y="7253897"/>
            <a:ext cx="5643067" cy="2272294"/>
            <a:chOff x="0" y="0"/>
            <a:chExt cx="7524090" cy="302972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524115" cy="3029712"/>
            </a:xfrm>
            <a:custGeom>
              <a:avLst/>
              <a:gdLst/>
              <a:ahLst/>
              <a:cxnLst/>
              <a:rect r="r" b="b" t="t" l="l"/>
              <a:pathLst>
                <a:path h="3029712" w="7524115">
                  <a:moveTo>
                    <a:pt x="0" y="0"/>
                  </a:moveTo>
                  <a:lnTo>
                    <a:pt x="7524115" y="0"/>
                  </a:lnTo>
                  <a:lnTo>
                    <a:pt x="7524115" y="3029712"/>
                  </a:lnTo>
                  <a:lnTo>
                    <a:pt x="0" y="3029712"/>
                  </a:lnTo>
                  <a:close/>
                </a:path>
              </a:pathLst>
            </a:custGeom>
            <a:solidFill>
              <a:srgbClr val="DDE7F0"/>
            </a:solidFill>
          </p:spPr>
        </p:sp>
      </p:grpSp>
      <p:sp>
        <p:nvSpPr>
          <p:cNvPr name="TextBox 62" id="62"/>
          <p:cNvSpPr txBox="true"/>
          <p:nvPr/>
        </p:nvSpPr>
        <p:spPr>
          <a:xfrm rot="0">
            <a:off x="12315615" y="7549410"/>
            <a:ext cx="4956743" cy="558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b="true" sz="3602" spc="-36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Database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2315615" y="8270043"/>
            <a:ext cx="4956743" cy="95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sz="2401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Database stores users, trips, posts, and related data.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6319857" y="7253897"/>
            <a:ext cx="19069" cy="2272294"/>
            <a:chOff x="0" y="0"/>
            <a:chExt cx="25425" cy="302972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5400" cy="3029712"/>
            </a:xfrm>
            <a:custGeom>
              <a:avLst/>
              <a:gdLst/>
              <a:ahLst/>
              <a:cxnLst/>
              <a:rect r="r" b="b" t="t" l="l"/>
              <a:pathLst>
                <a:path h="3029712" w="25400">
                  <a:moveTo>
                    <a:pt x="0" y="0"/>
                  </a:moveTo>
                  <a:lnTo>
                    <a:pt x="25400" y="0"/>
                  </a:lnTo>
                  <a:lnTo>
                    <a:pt x="25400" y="3029712"/>
                  </a:lnTo>
                  <a:lnTo>
                    <a:pt x="0" y="3029712"/>
                  </a:lnTo>
                  <a:close/>
                </a:path>
              </a:pathLst>
            </a:custGeom>
            <a:solidFill>
              <a:srgbClr val="09529C">
                <a:alpha val="5490"/>
              </a:srgbClr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1962924" y="7253897"/>
            <a:ext cx="19069" cy="2272294"/>
            <a:chOff x="0" y="0"/>
            <a:chExt cx="25425" cy="302972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5400" cy="3029712"/>
            </a:xfrm>
            <a:custGeom>
              <a:avLst/>
              <a:gdLst/>
              <a:ahLst/>
              <a:cxnLst/>
              <a:rect r="r" b="b" t="t" l="l"/>
              <a:pathLst>
                <a:path h="3029712" w="25400">
                  <a:moveTo>
                    <a:pt x="0" y="0"/>
                  </a:moveTo>
                  <a:lnTo>
                    <a:pt x="25400" y="0"/>
                  </a:lnTo>
                  <a:lnTo>
                    <a:pt x="25400" y="3029712"/>
                  </a:lnTo>
                  <a:lnTo>
                    <a:pt x="0" y="3029712"/>
                  </a:lnTo>
                  <a:close/>
                </a:path>
              </a:pathLst>
            </a:custGeom>
            <a:solidFill>
              <a:srgbClr val="09529C">
                <a:alpha val="5490"/>
              </a:srgbClr>
            </a:solid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AF3F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8F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4297" y="-14297"/>
            <a:ext cx="8542792" cy="3221069"/>
            <a:chOff x="0" y="0"/>
            <a:chExt cx="11390389" cy="42947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390376" cy="4294759"/>
            </a:xfrm>
            <a:custGeom>
              <a:avLst/>
              <a:gdLst/>
              <a:ahLst/>
              <a:cxnLst/>
              <a:rect r="r" b="b" t="t" l="l"/>
              <a:pathLst>
                <a:path h="4294759" w="11390376">
                  <a:moveTo>
                    <a:pt x="19177" y="0"/>
                  </a:moveTo>
                  <a:lnTo>
                    <a:pt x="11390376" y="0"/>
                  </a:lnTo>
                  <a:lnTo>
                    <a:pt x="11390376" y="4294759"/>
                  </a:lnTo>
                  <a:lnTo>
                    <a:pt x="19177" y="4294759"/>
                  </a:lnTo>
                  <a:cubicBezTo>
                    <a:pt x="8636" y="4294759"/>
                    <a:pt x="0" y="4286123"/>
                    <a:pt x="0" y="4275582"/>
                  </a:cubicBezTo>
                  <a:lnTo>
                    <a:pt x="0" y="19177"/>
                  </a:lnTo>
                  <a:cubicBezTo>
                    <a:pt x="0" y="8636"/>
                    <a:pt x="8509" y="0"/>
                    <a:pt x="19177" y="0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77" r="0" b="-1677"/>
              </a:stretch>
            </a:blipFill>
            <a:ln w="28597" cap="sq">
              <a:solidFill>
                <a:srgbClr val="D5D1C6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371761" y="1356731"/>
            <a:ext cx="1914039" cy="76114"/>
            <a:chOff x="0" y="0"/>
            <a:chExt cx="2552052" cy="10148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52065" cy="101600"/>
            </a:xfrm>
            <a:custGeom>
              <a:avLst/>
              <a:gdLst/>
              <a:ahLst/>
              <a:cxnLst/>
              <a:rect r="r" b="b" t="t" l="l"/>
              <a:pathLst>
                <a:path h="101600" w="2552065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2501265" y="0"/>
                  </a:lnTo>
                  <a:cubicBezTo>
                    <a:pt x="2529332" y="0"/>
                    <a:pt x="2552065" y="22733"/>
                    <a:pt x="2552065" y="50800"/>
                  </a:cubicBezTo>
                  <a:cubicBezTo>
                    <a:pt x="2552065" y="78867"/>
                    <a:pt x="2529332" y="101600"/>
                    <a:pt x="2501265" y="101600"/>
                  </a:cubicBezTo>
                  <a:lnTo>
                    <a:pt x="50800" y="101600"/>
                  </a:lnTo>
                  <a:cubicBezTo>
                    <a:pt x="22733" y="101600"/>
                    <a:pt x="0" y="78867"/>
                    <a:pt x="0" y="50800"/>
                  </a:cubicBezTo>
                  <a:close/>
                </a:path>
              </a:pathLst>
            </a:custGeom>
            <a:solidFill>
              <a:srgbClr val="09529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200369" y="0"/>
            <a:ext cx="9101471" cy="3192475"/>
            <a:chOff x="0" y="0"/>
            <a:chExt cx="12135294" cy="42566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135231" cy="4256659"/>
            </a:xfrm>
            <a:custGeom>
              <a:avLst/>
              <a:gdLst/>
              <a:ahLst/>
              <a:cxnLst/>
              <a:rect r="r" b="b" t="t" l="l"/>
              <a:pathLst>
                <a:path h="4256659" w="12135231">
                  <a:moveTo>
                    <a:pt x="0" y="0"/>
                  </a:moveTo>
                  <a:lnTo>
                    <a:pt x="12116181" y="0"/>
                  </a:lnTo>
                  <a:cubicBezTo>
                    <a:pt x="12126723" y="0"/>
                    <a:pt x="12135231" y="8509"/>
                    <a:pt x="12135231" y="19050"/>
                  </a:cubicBezTo>
                  <a:lnTo>
                    <a:pt x="12135231" y="4237609"/>
                  </a:lnTo>
                  <a:cubicBezTo>
                    <a:pt x="12135231" y="4248150"/>
                    <a:pt x="12126723" y="4256659"/>
                    <a:pt x="12116181" y="4256659"/>
                  </a:cubicBezTo>
                  <a:lnTo>
                    <a:pt x="0" y="4256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E7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657912" y="1328137"/>
            <a:ext cx="2046446" cy="76114"/>
            <a:chOff x="0" y="0"/>
            <a:chExt cx="2728595" cy="10148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28595" cy="101600"/>
            </a:xfrm>
            <a:custGeom>
              <a:avLst/>
              <a:gdLst/>
              <a:ahLst/>
              <a:cxnLst/>
              <a:rect r="r" b="b" t="t" l="l"/>
              <a:pathLst>
                <a:path h="101600" w="2728595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2677795" y="0"/>
                  </a:lnTo>
                  <a:cubicBezTo>
                    <a:pt x="2705862" y="0"/>
                    <a:pt x="2728595" y="22733"/>
                    <a:pt x="2728595" y="50800"/>
                  </a:cubicBezTo>
                  <a:cubicBezTo>
                    <a:pt x="2728595" y="78867"/>
                    <a:pt x="2705862" y="101600"/>
                    <a:pt x="2677795" y="101600"/>
                  </a:cubicBezTo>
                  <a:lnTo>
                    <a:pt x="50800" y="101600"/>
                  </a:lnTo>
                  <a:cubicBezTo>
                    <a:pt x="22733" y="101600"/>
                    <a:pt x="0" y="78867"/>
                    <a:pt x="0" y="50800"/>
                  </a:cubicBezTo>
                  <a:close/>
                </a:path>
              </a:pathLst>
            </a:custGeom>
            <a:solidFill>
              <a:srgbClr val="E95B1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0" y="3346333"/>
            <a:ext cx="18301840" cy="6954069"/>
            <a:chOff x="0" y="0"/>
            <a:chExt cx="24402453" cy="92720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402416" cy="9272016"/>
            </a:xfrm>
            <a:custGeom>
              <a:avLst/>
              <a:gdLst/>
              <a:ahLst/>
              <a:cxnLst/>
              <a:rect r="r" b="b" t="t" l="l"/>
              <a:pathLst>
                <a:path h="9272016" w="24402416">
                  <a:moveTo>
                    <a:pt x="0" y="22860"/>
                  </a:moveTo>
                  <a:cubicBezTo>
                    <a:pt x="0" y="10287"/>
                    <a:pt x="10287" y="0"/>
                    <a:pt x="22860" y="0"/>
                  </a:cubicBezTo>
                  <a:lnTo>
                    <a:pt x="24379555" y="0"/>
                  </a:lnTo>
                  <a:cubicBezTo>
                    <a:pt x="24392255" y="0"/>
                    <a:pt x="24402416" y="10287"/>
                    <a:pt x="24402416" y="22860"/>
                  </a:cubicBezTo>
                  <a:lnTo>
                    <a:pt x="24402416" y="9249156"/>
                  </a:lnTo>
                  <a:cubicBezTo>
                    <a:pt x="24402416" y="9261856"/>
                    <a:pt x="24392128" y="9272016"/>
                    <a:pt x="24379555" y="9272016"/>
                  </a:cubicBezTo>
                  <a:lnTo>
                    <a:pt x="22860" y="9272016"/>
                  </a:lnTo>
                  <a:cubicBezTo>
                    <a:pt x="10160" y="9272016"/>
                    <a:pt x="0" y="9261729"/>
                    <a:pt x="0" y="9249156"/>
                  </a:cubicBezTo>
                  <a:close/>
                </a:path>
              </a:pathLst>
            </a:custGeom>
            <a:solidFill>
              <a:srgbClr val="09529C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889143" y="4124716"/>
            <a:ext cx="10523563" cy="5832519"/>
            <a:chOff x="0" y="0"/>
            <a:chExt cx="14031417" cy="777669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031468" cy="7776718"/>
            </a:xfrm>
            <a:custGeom>
              <a:avLst/>
              <a:gdLst/>
              <a:ahLst/>
              <a:cxnLst/>
              <a:rect r="r" b="b" t="t" l="l"/>
              <a:pathLst>
                <a:path h="7776718" w="14031468">
                  <a:moveTo>
                    <a:pt x="0" y="0"/>
                  </a:moveTo>
                  <a:lnTo>
                    <a:pt x="14031468" y="0"/>
                  </a:lnTo>
                  <a:lnTo>
                    <a:pt x="14031468" y="7776718"/>
                  </a:lnTo>
                  <a:lnTo>
                    <a:pt x="0" y="77767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63" r="0" b="-463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371761" y="381286"/>
            <a:ext cx="8571395" cy="167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3"/>
              </a:lnSpc>
            </a:pPr>
            <a:r>
              <a:rPr lang="en-US" sz="1200" spc="145">
                <a:solidFill>
                  <a:srgbClr val="09529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PROTOTYPE DEMO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71761" y="646395"/>
            <a:ext cx="7656300" cy="484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3"/>
              </a:lnSpc>
            </a:pPr>
            <a:r>
              <a:rPr lang="en-US" b="true" sz="3752" spc="-37">
                <a:solidFill>
                  <a:srgbClr val="16324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Current Prototype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71761" y="1621279"/>
            <a:ext cx="7656300" cy="127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2670" indent="-156335" lvl="1">
              <a:lnSpc>
                <a:spcPts val="2175"/>
              </a:lnSpc>
              <a:buFont typeface="Arial"/>
              <a:buChar char="•"/>
            </a:pPr>
            <a:r>
              <a:rPr lang="en-US" sz="1726">
                <a:solidFill>
                  <a:srgbClr val="16324F"/>
                </a:solidFill>
                <a:latin typeface="Public Sans"/>
                <a:ea typeface="Public Sans"/>
                <a:cs typeface="Public Sans"/>
                <a:sym typeface="Public Sans"/>
              </a:rPr>
              <a:t>Functional UI for major screens</a:t>
            </a:r>
          </a:p>
          <a:p>
            <a:pPr algn="l" marL="312670" indent="-156335" lvl="1">
              <a:lnSpc>
                <a:spcPts val="2175"/>
              </a:lnSpc>
              <a:buFont typeface="Arial"/>
              <a:buChar char="•"/>
            </a:pPr>
            <a:r>
              <a:rPr lang="en-US" sz="1726">
                <a:solidFill>
                  <a:srgbClr val="16324F"/>
                </a:solidFill>
                <a:latin typeface="Public Sans"/>
                <a:ea typeface="Public Sans"/>
                <a:cs typeface="Public Sans"/>
                <a:sym typeface="Public Sans"/>
              </a:rPr>
              <a:t>Frontend-backend communication</a:t>
            </a:r>
          </a:p>
          <a:p>
            <a:pPr algn="l" marL="312670" indent="-156335" lvl="1">
              <a:lnSpc>
                <a:spcPts val="2175"/>
              </a:lnSpc>
              <a:buFont typeface="Arial"/>
              <a:buChar char="•"/>
            </a:pPr>
            <a:r>
              <a:rPr lang="en-US" sz="1726">
                <a:solidFill>
                  <a:srgbClr val="16324F"/>
                </a:solidFill>
                <a:latin typeface="Public Sans"/>
                <a:ea typeface="Public Sans"/>
                <a:cs typeface="Public Sans"/>
                <a:sym typeface="Public Sans"/>
              </a:rPr>
              <a:t>User and travel content management</a:t>
            </a:r>
          </a:p>
          <a:p>
            <a:pPr algn="l" marL="312670" indent="-156335" lvl="1">
              <a:lnSpc>
                <a:spcPts val="2175"/>
              </a:lnSpc>
              <a:buFont typeface="Arial"/>
              <a:buChar char="•"/>
            </a:pPr>
            <a:r>
              <a:rPr lang="en-US" sz="1726">
                <a:solidFill>
                  <a:srgbClr val="16324F"/>
                </a:solidFill>
                <a:latin typeface="Public Sans"/>
                <a:ea typeface="Public Sans"/>
                <a:cs typeface="Public Sans"/>
                <a:sym typeface="Public Sans"/>
              </a:rPr>
              <a:t>Core navigation and interaction flows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57912" y="352692"/>
            <a:ext cx="8643928" cy="167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3"/>
              </a:lnSpc>
            </a:pPr>
            <a:r>
              <a:rPr lang="en-US" sz="1200" spc="145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ROADMAP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57912" y="617801"/>
            <a:ext cx="8186376" cy="484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3"/>
              </a:lnSpc>
            </a:pPr>
            <a:r>
              <a:rPr lang="en-US" b="true" sz="3752" spc="-37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Next Steps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57912" y="1592675"/>
            <a:ext cx="8186376" cy="159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2670" indent="-156335" lvl="1">
              <a:lnSpc>
                <a:spcPts val="2175"/>
              </a:lnSpc>
              <a:buFont typeface="Arial"/>
              <a:buChar char="•"/>
            </a:pPr>
            <a:r>
              <a:rPr lang="en-US" sz="172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Complete remaining backend functionality</a:t>
            </a:r>
          </a:p>
          <a:p>
            <a:pPr algn="l" marL="312670" indent="-156335" lvl="1">
              <a:lnSpc>
                <a:spcPts val="2175"/>
              </a:lnSpc>
              <a:buFont typeface="Arial"/>
              <a:buChar char="•"/>
            </a:pPr>
            <a:r>
              <a:rPr lang="en-US" sz="172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Improve personalization/recommendations</a:t>
            </a:r>
          </a:p>
          <a:p>
            <a:pPr algn="l" marL="312670" indent="-156335" lvl="1">
              <a:lnSpc>
                <a:spcPts val="2175"/>
              </a:lnSpc>
              <a:buFont typeface="Arial"/>
              <a:buChar char="•"/>
            </a:pPr>
            <a:r>
              <a:rPr lang="en-US" sz="172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Testing and bug fixing</a:t>
            </a:r>
          </a:p>
          <a:p>
            <a:pPr algn="l" marL="312670" indent="-156335" lvl="1">
              <a:lnSpc>
                <a:spcPts val="2175"/>
              </a:lnSpc>
              <a:buFont typeface="Arial"/>
              <a:buChar char="•"/>
            </a:pPr>
            <a:r>
              <a:rPr lang="en-US" sz="172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UI/UX refinement</a:t>
            </a:r>
          </a:p>
          <a:p>
            <a:pPr algn="l" marL="312670" indent="-156335" lvl="1">
              <a:lnSpc>
                <a:spcPts val="2175"/>
              </a:lnSpc>
              <a:buFont typeface="Arial"/>
              <a:buChar char="•"/>
            </a:pPr>
            <a:r>
              <a:rPr lang="en-US" sz="172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Final integration and deployment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0" y="3670459"/>
            <a:ext cx="18301840" cy="300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5"/>
              </a:lnSpc>
            </a:pPr>
            <a:r>
              <a:rPr lang="en-US" sz="1726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Building a complete end-to-end travel experience with Travel Sphere.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DAHVNCdDR9E</dc:identifier>
  <dcterms:modified xsi:type="dcterms:W3CDTF">2011-08-01T06:04:30Z</dcterms:modified>
  <cp:revision>1</cp:revision>
  <dc:title>Travel-Sphere-Prototype.pptx</dc:title>
</cp:coreProperties>
</file>